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MB</c:v>
                </c:pt>
              </c:strCache>
            </c:strRef>
          </c:tx>
          <c:dPt>
            <c:idx val="0"/>
            <c:spPr>
              <a:solidFill>
                <a:srgbClr val="1FC8B4"/>
              </a:solidFill>
            </c:spPr>
          </c:dPt>
          <c:dPt>
            <c:idx val="1"/>
            <c:spPr>
              <a:solidFill>
                <a:srgbClr val="1FC8B4"/>
              </a:solidFill>
            </c:spPr>
          </c:dPt>
          <c:dPt>
            <c:idx val="2"/>
            <c:spPr>
              <a:solidFill>
                <a:srgbClr val="1FC8B4"/>
              </a:solidFill>
            </c:spPr>
          </c:dPt>
          <c:dPt>
            <c:idx val="3"/>
            <c:spPr>
              <a:solidFill>
                <a:srgbClr val="FFB020"/>
              </a:solidFill>
            </c:spPr>
          </c:dPt>
          <c:dPt>
            <c:idx val="4"/>
            <c:spPr>
              <a:solidFill>
                <a:srgbClr val="FFB020"/>
              </a:solidFill>
            </c:spPr>
          </c:dPt>
          <c:dPt>
            <c:idx val="5"/>
            <c:spPr>
              <a:solidFill>
                <a:srgbClr val="FFB020"/>
              </a:solidFill>
            </c:spPr>
          </c:dPt>
          <c:dPt>
            <c:idx val="6"/>
            <c:spPr>
              <a:solidFill>
                <a:srgbClr val="FFB020"/>
              </a:solidFill>
            </c:spPr>
          </c:dPt>
          <c:dPt>
            <c:idx val="7"/>
            <c:spPr>
              <a:solidFill>
                <a:srgbClr val="FF5A5F"/>
              </a:solidFill>
            </c:spPr>
          </c:dPt>
          <c:dPt>
            <c:idx val="8"/>
            <c:spPr>
              <a:solidFill>
                <a:srgbClr val="FF5A5F"/>
              </a:solidFill>
            </c:spPr>
          </c:dPt>
          <c:dPt>
            <c:idx val="9"/>
            <c:spPr>
              <a:solidFill>
                <a:srgbClr val="FF5A5F"/>
              </a:solidFill>
            </c:spPr>
          </c:dPt>
          <c:cat>
            <c:strRef>
              <c:f>Sheet1!$A$2:$A$11</c:f>
              <c:strCache>
                <c:ptCount val="10"/>
                <c:pt idx="0">
                  <c:v>api-go:scratch</c:v>
                </c:pt>
                <c:pt idx="1">
                  <c:v>api-go:distroless</c:v>
                </c:pt>
                <c:pt idx="2">
                  <c:v>api-go:alpine</c:v>
                </c:pt>
                <c:pt idx="3">
                  <c:v>backend:chainguard</c:v>
                </c:pt>
                <c:pt idx="4">
                  <c:v>backend:distroless</c:v>
                </c:pt>
                <c:pt idx="5">
                  <c:v>backend:alpine</c:v>
                </c:pt>
                <c:pt idx="6">
                  <c:v>backend:slim</c:v>
                </c:pt>
                <c:pt idx="7">
                  <c:v>api-go:single</c:v>
                </c:pt>
                <c:pt idx="8">
                  <c:v>backend:full</c:v>
                </c:pt>
                <c:pt idx="9">
                  <c:v>backend:single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</c:v>
                </c:pt>
                <c:pt idx="1">
                  <c:v>9</c:v>
                </c:pt>
                <c:pt idx="2">
                  <c:v>15</c:v>
                </c:pt>
                <c:pt idx="3">
                  <c:v>200</c:v>
                </c:pt>
                <c:pt idx="4">
                  <c:v>200</c:v>
                </c:pt>
                <c:pt idx="5">
                  <c:v>200</c:v>
                </c:pt>
                <c:pt idx="6">
                  <c:v>250</c:v>
                </c:pt>
                <c:pt idx="7">
                  <c:v>900</c:v>
                </c:pt>
                <c:pt idx="8">
                  <c:v>1100</c:v>
                </c:pt>
                <c:pt idx="9">
                  <c:v>1200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13314A"/>
            </a:solidFill>
          </a:ln>
        </c:spPr>
        <c:txPr>
          <a:bodyPr/>
          <a:lstStyle/>
          <a:p>
            <a:pPr>
              <a:defRPr>
                <a:solidFill>
                  <a:srgbClr val="FFFFFF"/>
                </a:solidFill>
                <a:latin typeface="Courier New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13314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A9BCD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A9BCD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Pergunta para a sala: quem já escreveu um Dockerfile que funciona? Hoje a pergunta é outra: ele é pequeno, rápido de construir e seguro? Vamos medir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qualquer conteúdo: votação com a sala. Anote o placar no quadro e peça um argumento de cada lado, sem responder. Prometa: no bloco 2 medimos tudo com a mesma app e, no final, votamos de novo.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mapa da aula. Cada bloco termina com um lab. Peça para quem não rodou make lab-prepull rodar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Fio condutor: a mesma API, do pior Dockerfile possível até a imagem mínima. Esse é o placar que vamos construir ao longo da aula com make lab-compare.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Imagem = pilha de camadas read-only + config. Container = imagem + camada gravável. Apagar arquivo numa camada posterior NÃO reduz a imagem. Mostrar docker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Docker Hub Official/Verified primeiro; registries de fabricante; imagens mínimas (distroless, Chainguard, Docker Hardened Images). Em produção, sempre via registry interno com scan e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Tag é um ponteiro mutável; digest é o hash do conteúdo. latest quebra a reprodutibilidade e o rollback. Renovate/Dependabot atualizam o digest via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mesma API, o mesmo código, só muda o FROM. Full para build; slim/alpine/distroless/chainguard para runtime; scratch para binários estáticos.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BusyBox: um binário de ~1 MB implementa sh, ls, wget via symlinks. musl: binários glibc não carregam, DNS diferente, alocador diferente. Regra: builder e runtime com a mesma libc.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shell = sem docker exec sh. Debug com docker debug ou imagem :debug. HEALTHCHECK vai para o orquestrador ou para o próprio binário (flag -healthcheck da API 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Resposta à votação de abertura, com dados medidos por make lab-duel. Com Node, tamanho não decide: a decisão é libc (musl e Node experimental x glibc), superfície de ataque (shell e apk disponíveis ao atacante) e capacidade de debug. Terceira via: Chainguard/Wolfi. Para Go, o duelo nem existe: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 a tabela do make lab-compare. O node_modules domina o tamanho nas imagens Node, por isso alpine/distroless/chainguard ficam parecidos. A versão Go em scratch é uma ordem de grandeza menor.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make lab-single lab-multi primeiro. docker run handson/backend:single whoami → root. ls node_modules/.bin → tsc, jest, eslint em produção. Depois a tabela de prós e contras.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hands-on/lab02-multi-stage/Dockerfile: deps (só produção), builder (tsc), production (copia node_modules + dist). Comparar com backend/Dockerfile e frontend/Dockerfile (Vite → nginx: node nem existe na final).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Passo a passo para containerizar qualquer app. Destaque: .dockerignore primeiro, ordem de camadas, exec form no CMD (PID 1 recebe SIGTERM) e secrets nunca em ARG/ENV.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para o participante levar para os Dockerfiles do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lab-cache: o cache mount sobrevive até ao --no-cache. Secret mount para .npmrc. Demo de ordem de camadas: alterar comentário em main.ts e rebuildar o Dockerfile bom e o bad-order. Multi-arch só demo do palestrante.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make lab-scan rodando: o primeiro download do banco do Trivy demora.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Scan não é opcional, é inventário. hadolint e trivy config antes do build; secret scan antes do commit; trivy image após o build; SBOM e assinatura na publicação; rescan contínuo em produção. Ligar com .github/workflows/appsec.yml e o DefectDojo.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SBOM é a lista de ingredientes: dá para reescanear sem a imagem. Pin por digest + Renovate. Assinatura com cosign. Rebuild frequente: CVE corrigido na base só chega se você rebuildar.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frontend/Dockerfile deste repo roda nginx como root na porta 80. No lab04 vira nginx-unprivileged na 8080, rootfs read-only, cap_drop ALL, no-new-privileges, limites. Demonstrar: docker exec id, touch /etc/x falha.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guiado + exercício relâmpago: quanta memória o backend usa e qual o limite? docker stats + docker inspect. Troubleshooting: exit 137, exec format error, glibc em alpine.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Swarm = cluster de nós Docker (managers com Raft + workers). Service = estado desejado; task = container agendado. Stack = compose file. Overlay + routing mesh. Secrets nativos. Swarm x Kubernetes: simplicidade x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rolling update troca NestJS por Go sem downtime: as duas implementações respeitam o mesmo contrato HTTP e o mesmo healthcheck. Watch em docker service ps. Multi-nó no Play with Docker: make swarm-registry + REGISTRY=127.0.0.1:5000/.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Recapitular o placar: de single (≈1,2 GB, root, centenas de CVEs) a api-go:scratch (≈7 MB, não-root, 0 CVEs). Próximos passos e link para a palestra AppSec.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Puxar o debate: Alpine ou distroless para Node em produção? Quem já teve problema de módulo nativo em Alpine? Vale Swarm em 2026?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498079" y="11887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52560" y="11887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11887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79" y="265176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265176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79" y="4114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HANDS-ON  ·  ~2 HORAS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6583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Containerização</a:t>
            </a:r>
          </a:p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na Prática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A9BCD0"/>
                </a:solidFill>
                <a:latin typeface="Calibri"/>
              </a:rPr>
              <a:t>Do Dockerfile ingênuo à imagem mínima, escaneada, endurecida e rodando em Swarm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C8B4"/>
                </a:solidFill>
                <a:latin typeface="Calibri"/>
              </a:rPr>
              <a:t>Calculadora de IMC  ·  NestJS  ·  Go  ·  Vue + nginx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VOTAÇÃO DE ABERTURA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Sua API Node vai para produção amanhã.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0" i="0">
                <a:solidFill>
                  <a:srgbClr val="A9BCD0"/>
                </a:solidFill>
                <a:latin typeface="Calibri"/>
              </a:rPr>
              <a:t>Qual imagem base você escolhe?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3017520"/>
            <a:ext cx="4526280" cy="30175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154680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FFB020"/>
                </a:solidFill>
                <a:latin typeface="Calibri"/>
              </a:rPr>
              <a:t>Alpine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9476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ourier New"/>
              </a:rPr>
              <a:t>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4343400"/>
            <a:ext cx="3794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"é menor"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"tem shell para debug"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"todo mundo usa"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17520"/>
            <a:ext cx="4526280" cy="30175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154680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1FC8B4"/>
                </a:solidFill>
                <a:latin typeface="Calibri"/>
              </a:rPr>
              <a:t>Distroless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79476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ourier New"/>
              </a:rPr>
              <a:t>distroless/nodejs22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343400"/>
            <a:ext cx="3794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"é mais seguro"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"sem shell, sem ataque"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"impossível debugar?"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0690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A9BCD0"/>
                </a:solidFill>
                <a:latin typeface="Calibri"/>
              </a:rPr>
              <a:t>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 caminho de hoje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58368" y="1691640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600200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Abertura: Alpine x Distroless?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600200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0008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441448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50008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Fundamentos e registries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50008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7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99815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5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Imagens base + duelo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099815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9624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8368" y="3941063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849624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Single x multi-stage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849624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99431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4690871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599431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Seu Dockerfile + BuildKit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599431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5440679"/>
            <a:ext cx="420624" cy="42062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349240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Intervalo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349240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600200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27648" y="1691640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1600200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Scan e supply 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1600200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350008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27648" y="2441448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2350008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Hardening do runtime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2350008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10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99815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7648" y="3191256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099815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Comandos de rotina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3099815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10 min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849624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27648" y="3941063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3849624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Docker Swarm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3849624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599431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27648" y="4690871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4599431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Encerramento e Q&amp;A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9431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5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6126480"/>
            <a:ext cx="5394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Material: hands-on/README.md  ·  CHEATSHEET.md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O PLACAR DA AULA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Mesma API, duas imagens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49240" cy="420624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9BCD0"/>
                </a:solidFill>
                <a:latin typeface="Courier New"/>
              </a:rPr>
              <a:t>backend:single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5A5F"/>
                </a:solidFill>
                <a:latin typeface="Calibri"/>
              </a:rPr>
              <a:t>1.200 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4572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node:22 full + devDeps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roda como root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centenas de CVEs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49240" cy="420624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9BCD0"/>
                </a:solidFill>
                <a:latin typeface="Courier New"/>
              </a:rPr>
              <a:t>api-go:scratch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4028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1FC8B4"/>
                </a:solidFill>
                <a:latin typeface="Calibri"/>
              </a:rPr>
              <a:t>7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749039"/>
            <a:ext cx="4572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binário estático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usuário 65532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zero pacotes de 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329184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 i="0">
                <a:solidFill>
                  <a:srgbClr val="FFB020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alibri"/>
              </a:rPr>
              <a:t>≈ valores estimados — atualizar com make lab-compare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1 · 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Imagem é uma pilha de camadas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B1E2D"/>
                </a:solidFill>
                <a:latin typeface="Courier New"/>
              </a:rPr>
              <a:t>camada gravável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B1E2D"/>
                </a:solidFill>
                <a:latin typeface="Courier New"/>
              </a:rPr>
              <a:t>COPY dist/  (sua app)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B1E2D"/>
                </a:solidFill>
                <a:latin typeface="Courier New"/>
              </a:rPr>
              <a:t>RUN npm ci --omit=dev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77639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977639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WORKDIR /app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8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FROM node:22-alpine  (base)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235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read-only, compartilhadas, endereçadas por hash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2496ED"/>
                </a:solidFill>
                <a:latin typeface="Calibri"/>
              </a:rPr>
              <a:t>OCI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a mesma imagem roda em Docker, containerd, Podman e Kubernetes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2496ED"/>
                </a:solidFill>
                <a:latin typeface="Calibri"/>
              </a:rPr>
              <a:t>Cache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cada instrução gera uma camada; a ordem define o reaproveitamento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FF5A5F"/>
                </a:solidFill>
                <a:latin typeface="Calibri"/>
              </a:rPr>
              <a:t>Armadilha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rm numa camada posterior esconde o arquivo, mas ele continua na 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343400"/>
            <a:ext cx="5120640" cy="128016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526280"/>
            <a:ext cx="4663440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history node:22-alpine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image inspect node:22-alpine \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-f '{{json .RootFS.Layers}}'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1 · REGISTRIES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Onde encontrar imagens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013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0136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Docker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Official Images e Verified Publisher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atenção ao rate limit anônimo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60020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79" y="18013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19" y="180136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GHCR · Quay · ECR Public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3317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projetos GitHub, Red Hat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ECR Public espelha as oficiais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0020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19" y="180136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59" y="180136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Distroless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3317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gcr.io/distroless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só runtime, sem 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04164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04164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Chainguard · DHI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cgr.dev/chainguard, dhi.io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rebuild diário, ~0 CVEs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84048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26279" y="404164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19" y="404164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Registry interno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Harbor, Nexus, ECR, ACR, OCIR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espelho + scan + política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84048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75319" y="404164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404164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Como escolher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oficial &gt; fabricante &gt; usuário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rebuild recente, SBOM, assinatura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1 · VERSIONAMENTO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Tag muda. Digest não.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6675120" cy="23774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6217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CD0"/>
                </a:solidFill>
                <a:latin typeface="Courier New"/>
              </a:rPr>
              <a:t># mutável: muda a cada rebuild do upstream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FROM node:22-alpine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CD0"/>
                </a:solidFill>
                <a:latin typeface="Courier New"/>
              </a:rPr>
              <a:t># imutável: sempre os mesmos bytes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FROM node:22-alpine@sha256:9f3a...c1e2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251960"/>
            <a:ext cx="6675120" cy="114300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6217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buildx imagetools inspect node:22-alpine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645920"/>
            <a:ext cx="4023360" cy="17373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18120" y="1847088"/>
            <a:ext cx="411480" cy="411480"/>
          </a:xfrm>
          <a:prstGeom prst="ellipse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47088"/>
            <a:ext cx="3063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Evite :latest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37744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build não reprodutível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rollback impossível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3657600"/>
            <a:ext cx="4023360" cy="17373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18120" y="385876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858768"/>
            <a:ext cx="3063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Pin + automação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438912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digest no FROM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Renovate abre o PR de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Tipos de imagem base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1188720"/>
                <a:gridCol w="2468880"/>
                <a:gridCol w="26517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libc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Shell / pacotes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Uso típico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node:22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Debian + toolchain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bash, apt, gcc, git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stage de build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node:22-slim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Debian mínimo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bash, apt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runtime com glibc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node:22-alpine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Alpine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musl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busybox sh, apk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runtime pequeno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distroless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Debian sem userland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nenhum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runtime de produção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chainguard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Wolfi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nenhum (-dev tem)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runtime ~0 CVEs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scratch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vazio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nenhum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binário estático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6126480"/>
            <a:ext cx="4672583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4672583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lab-bases lab-go lab-compare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BUSYBOX + MUSL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Alpine não é "só menor"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013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01368"/>
            <a:ext cx="4526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BusyBox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502920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1 binário (~1 MB) faz sh, ls, wget, ps...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symlinks em /bin → /bin/busybox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flags e saídas diferentes do GNU coreutils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80136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79" y="1801368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musl libc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93776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binário glibc: "not found" / "Error relocating"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módulos nativos (npm, pip) recompilam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resolver DNS e alocador diferentes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109960" cy="14630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60520"/>
            <a:ext cx="10652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docker run --rm alpine readlink -f /bin/ls            # /bin/busybox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docker run --rm node:22-alpine ldd /usr/local/bin/node  # musl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docker run --rm node:22-slim   ldd /usr/local/bin/node  # glibc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C8B4"/>
                </a:solidFill>
                <a:latin typeface="Calibri"/>
              </a:rPr>
              <a:t>Regra: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builder e runtime com a mesma libc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DISTROLESS · CHAINGUARD · SCRATCH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Sem shell: o que muda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013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01368"/>
            <a:ext cx="2606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Debug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108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sem docker exec sh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docker debug &lt;ctr&gt;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tag :debug (busybox)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60020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44568" y="180136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3207" y="1801368"/>
            <a:ext cx="2606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Healthcheck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331720"/>
            <a:ext cx="3108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sem wget/curl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probe no orquestrador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ou o binário se testa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60020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11896" y="180136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0536" y="1801368"/>
            <a:ext cx="2606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Usuário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2331720"/>
            <a:ext cx="3108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nonroot (65532) padrão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USER numérico no scratch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sem /etc/passwd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06240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89120"/>
            <a:ext cx="10652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HEALTHCHECK CMD ["/bmi-api", "-healthcheck"]    # hands-on/api-go/Dockerfile.scratch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run --rm -it --entrypoint sh handson/backend:distroless   # falha: sem shell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RESPOSTA À VOTAÇÃO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 duelo: Alpine x Distroless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7680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286000"/>
                <a:gridCol w="2286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Alpine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Distroless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Tamanho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≈ 200 MB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≈ 200 MB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Arquivos no filesystem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≈ 8 mil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≈ 7 mil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Shell / pacotes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sh + apk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nenhum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libc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musl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Usuário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node (USER manual)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nonroot (tag)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docker exec sh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funciona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falha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49640" y="1691640"/>
            <a:ext cx="31089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1700" b="1" i="0">
                <a:solidFill>
                  <a:srgbClr val="FFB020"/>
                </a:solidFill>
                <a:latin typeface="Calibri"/>
              </a:rPr>
              <a:t>Tamanho não decide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com Node: node_modules domina</a:t>
            </a:r>
          </a:p>
          <a:p>
            <a:pPr algn="l">
              <a:spcAft>
                <a:spcPts val="1800"/>
              </a:spcAft>
            </a:pPr>
            <a:r>
              <a:rPr sz="1700" b="1" i="0">
                <a:solidFill>
                  <a:srgbClr val="1FC8B4"/>
                </a:solidFill>
                <a:latin typeface="Calibri"/>
              </a:rPr>
              <a:t>Decide: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libc, superfície de ataque e debug</a:t>
            </a:r>
          </a:p>
          <a:p>
            <a:pPr algn="l">
              <a:spcAft>
                <a:spcPts val="1800"/>
              </a:spcAft>
            </a:pPr>
            <a:r>
              <a:rPr sz="1700" b="1" i="0">
                <a:solidFill>
                  <a:srgbClr val="2496ED"/>
                </a:solidFill>
                <a:latin typeface="Calibri"/>
              </a:rPr>
              <a:t>Terceira via: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Chainguard (glibc, sem shell, ~0 CVEs)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alibri"/>
              </a:rPr>
              <a:t>≈ valores estimados — atualizar com make lab-duel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6126480"/>
            <a:ext cx="2660904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266090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lab-duel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RESULTADO DO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Tamanho da imagem final (MB)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alibri"/>
              </a:rPr>
              <a:t>≈ valores estimados — atualizar com make lab-compare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3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Single-stage x multi-stage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69080"/>
                <a:gridCol w="40690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Single-stage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Multi-stage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Tamanho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toolchain + fontes + devDeps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só o que roda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CVEs / superfície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baixa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Secrets e fontes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vazam no artefato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ficam no stage de build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invalida com frequência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stages paralelos e independentes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Simplicidade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✓ um FROM, fácil de ler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mais linhas, exige entender stages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Debug em produção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✓ shell e ferramentas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imagem enxuta, às vezes sem shell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Dev / CI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um Dockerfile só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--target builder para testes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6126480"/>
            <a:ext cx="5074920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07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lab-single lab-multi lab-compare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3 · LAB02-MULTI-STAGE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Três stages, uma imagem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429000" cy="3566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10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deps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ourier New"/>
              </a:rPr>
              <a:t>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3063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package*.json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npm ci --omit=dev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0632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FFB02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45920"/>
            <a:ext cx="3429000" cy="3566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63440" y="1828800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10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ourier New"/>
              </a:rPr>
              <a:t>node:22-alpine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3063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npm ci (com devDeps)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COPY . 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npm run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0632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FFB02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45920"/>
            <a:ext cx="3429000" cy="3566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9640" y="1828800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810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4231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ourier New"/>
              </a:rPr>
              <a:t>node:22-alpine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926080"/>
            <a:ext cx="3063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COPY --from=deps node_modules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COPY --from=builder dist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USER node · HEALTHCHECK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Só o stage final vai para o registry. </a:t>
            </a:r>
            <a:r>
              <a:rPr sz="1800" b="0" i="0">
                <a:solidFill>
                  <a:srgbClr val="A9BCD0"/>
                </a:solidFill>
                <a:latin typeface="Calibri"/>
              </a:rPr>
              <a:t>Os outros ficam no cache do build.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6126480"/>
            <a:ext cx="4672583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4672583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docker build --target builder ...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4 · PASSO A PASSO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Construindo seu Dockerfile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700784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609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Entenda o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938528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versão, porta, env, onde grava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1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2596896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054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Escolha e fixe a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834639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tag →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46704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349300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4015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.dockerignore primeiro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73075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node_modules, .git, .env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42816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800" y="4389120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29767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Ordem das camadas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62686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manifest → install → código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138928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5285232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1937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Install determinístico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52297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npm ci · go mod download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554480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55080" y="1700784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1609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Multi-stage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1938528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build separado do runtime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450591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55080" y="2596896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25054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Usuário não-root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2834639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app com dono root, só leitura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346704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55080" y="349300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34015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Metadados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59" y="373075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EXPOSE · HEALTHCHECK · LABEL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242816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5080" y="4389120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429767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CMD em exec 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462686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["node", "dist/main.js"]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5138928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55080" y="5285232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59" y="51937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Config fora da imagem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59" y="552297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secrets nunca em ARG/ENV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4 · BOAS PRÁTICAS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Checklist para levar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19" y="1645920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base oficial, versão fixa (idealmente digest)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532888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2487168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.dockerignore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74136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3328416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manifest de deps antes do código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4169664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multi-stage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056632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5010912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USER não-root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1691640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45920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HEALTHCHECK (ou probe)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532888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87168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exec form no CMD/ENTRYPOINT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374136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328416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nenhum secret em camada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4215384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169664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passou no hadolint e no trivy config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4 · LAB05-BUILDKIT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BuildKit: builds rápidos e sem vazar segredo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766560" cy="274320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6309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CD0"/>
                </a:solidFill>
                <a:latin typeface="Courier New"/>
              </a:rPr>
              <a:t># syntax=docker/dockerfile:1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RUN --mount=type=cache,target=/root/.npm \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--mount=type=secret,id=npmrc,target=/root/.npmrc \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npm ci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build --secret id=npmrc,src=$HOME/.npmrc 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7200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54880"/>
            <a:ext cx="630936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buildx build \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--platform linux/amd64,linux/arm64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600200"/>
            <a:ext cx="4069080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18120" y="180136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cache 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3317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sobrevive até ao --no-cache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3081528"/>
            <a:ext cx="4069080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18120" y="3282696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282696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secret mount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81304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token nunca vira camada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572000"/>
            <a:ext cx="4069080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18120" y="47731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773168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build-context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3035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contexto extra nomeado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126480"/>
            <a:ext cx="2761488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126480"/>
            <a:ext cx="276148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Intervalo ·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4747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A9BCD0"/>
                </a:solidFill>
                <a:latin typeface="Calibri"/>
              </a:rPr>
              <a:t>Deixe rodando enquanto isso: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23360" y="4206240"/>
            <a:ext cx="4114800" cy="73152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0" y="4206240"/>
            <a:ext cx="4114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FC8B4"/>
                </a:solidFill>
                <a:latin typeface="Courier New"/>
              </a:rPr>
              <a:t>make lab-scan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5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Scan em cada etapa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645920"/>
            <a:ext cx="548640" cy="54864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Escrever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hadolint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trivy config</a:t>
            </a:r>
          </a:p>
        </p:txBody>
      </p:sp>
      <p:sp>
        <p:nvSpPr>
          <p:cNvPr id="8" name="Oval 7"/>
          <p:cNvSpPr/>
          <p:nvPr/>
        </p:nvSpPr>
        <p:spPr>
          <a:xfrm>
            <a:off x="3566160" y="1645920"/>
            <a:ext cx="548640" cy="54864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Commit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trivy fs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--scanners secret</a:t>
            </a:r>
          </a:p>
        </p:txBody>
      </p:sp>
      <p:sp>
        <p:nvSpPr>
          <p:cNvPr id="12" name="Oval 11"/>
          <p:cNvSpPr/>
          <p:nvPr/>
        </p:nvSpPr>
        <p:spPr>
          <a:xfrm>
            <a:off x="5852159" y="1645920"/>
            <a:ext cx="548640" cy="54864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trivy image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Scout · Grype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1645920"/>
            <a:ext cx="548640" cy="54864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Publicar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SBOM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cosign sign</a:t>
            </a:r>
          </a:p>
        </p:txBody>
      </p:sp>
      <p:sp>
        <p:nvSpPr>
          <p:cNvPr id="20" name="Oval 19"/>
          <p:cNvSpPr/>
          <p:nvPr/>
        </p:nvSpPr>
        <p:spPr>
          <a:xfrm>
            <a:off x="10424160" y="1645920"/>
            <a:ext cx="548640" cy="54864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Produção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rescan do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registry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11109960" cy="132588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34840"/>
            <a:ext cx="1065276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make lab-lint                      # hadolint: single x multi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make lab-scan                      # trivy image + config + secret → reports/trivy-single.html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trivy image --exit-code 1 --severity CRITICAL --ignore-unfixed handson/backend:multi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6126480"/>
            <a:ext cx="3566160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126480"/>
            <a:ext cx="3566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lab-lint lab-scan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5 · LAB06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Supply chain: saber o que você publica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4708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47088"/>
            <a:ext cx="16916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1945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CycloneDX / SPDX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trivy sbom reescaneia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sem baixar a 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64592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11880" y="184708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47088"/>
            <a:ext cx="1691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Pin por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377440"/>
            <a:ext cx="21945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FROM ...@sha256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Renovate/Dependabot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abrem o PR de update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184708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847088"/>
            <a:ext cx="1691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Assinatura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21945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cosign sign / verify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política na admissão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procedência garantida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64592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81160" y="184708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847088"/>
            <a:ext cx="1691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Rebuild contínuo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377440"/>
            <a:ext cx="21945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base corrigida só chega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 você rebuildar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agende no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B020"/>
                </a:solidFill>
                <a:latin typeface="Calibri"/>
              </a:rPr>
              <a:t>Gancho: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o secret scan acha o DD_SECRET_KEY no docker-compose.yml da palestra AppSec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6126480"/>
            <a:ext cx="2660904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266090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lab-sbom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6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Hardening do runtime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200400"/>
                <a:gridCol w="384048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Onde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Mitiga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USER não-root / nginx-unprivileged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Dockerfile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escape com privilégio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read_only + tmpfs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 / stack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malware persistente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cap_drop: [ALL]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abuso de capabilities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no-new-privileges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escalada via setuid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mem_limit · cpus · pids_limit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DoS, fork bomb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backend sem ports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exposição desnecessária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44068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10607040" cy="201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exec handson-hardening-frontend-1 id     # uid=101, não root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6126480"/>
            <a:ext cx="3163824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316382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lab-hardening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7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Comandos de rotina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278892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496ED"/>
                </a:solidFill>
                <a:latin typeface="Calibri"/>
              </a:rPr>
              <a:t>Observar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3154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ps --format ...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logs -f --tail 50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stats --no-stream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top · docker diff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600200"/>
            <a:ext cx="3520440" cy="278892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79" y="17373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B020"/>
                </a:solidFill>
                <a:latin typeface="Calibri"/>
              </a:rPr>
              <a:t>Investigar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79" y="2286000"/>
            <a:ext cx="3154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exec -it &lt;c&gt; sh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inspect -f '{{...}}'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debug &lt;c&gt;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network inspect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600200"/>
            <a:ext cx="3520440" cy="278892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373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C8B4"/>
                </a:solidFill>
                <a:latin typeface="Calibri"/>
              </a:rPr>
              <a:t>Limpar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86000"/>
            <a:ext cx="3154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system df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system prune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image prune -a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builder prune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5A5F"/>
                </a:solidFill>
                <a:latin typeface="Calibri"/>
              </a:rPr>
              <a:t>Exit 137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OOM  ·  </a:t>
            </a:r>
            <a:r>
              <a:rPr sz="1700" b="1" i="0">
                <a:solidFill>
                  <a:srgbClr val="FF5A5F"/>
                </a:solidFill>
                <a:latin typeface="Calibri"/>
              </a:rPr>
              <a:t>exec format error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arquitetura  ·  </a:t>
            </a:r>
            <a:r>
              <a:rPr sz="1700" b="1" i="0">
                <a:solidFill>
                  <a:srgbClr val="FF5A5F"/>
                </a:solidFill>
                <a:latin typeface="Calibri"/>
              </a:rPr>
              <a:t>not found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binário glibc em alpine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126480"/>
            <a:ext cx="3566160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3566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hands-on/CHEATSHEET.md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8 · CONCEITOS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Docker Swarm em 1 slide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583680" cy="4297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217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A9BCD0"/>
                </a:solidFill>
                <a:latin typeface="Calibri"/>
              </a:rPr>
              <a:t>cluster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40280"/>
            <a:ext cx="1828800" cy="28346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B020"/>
                </a:solidFill>
                <a:latin typeface="Calibri"/>
              </a:rPr>
              <a:t>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88036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backend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84048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4048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frontend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2240280"/>
            <a:ext cx="1828800" cy="28346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331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2496ED"/>
                </a:solidFill>
                <a:latin typeface="Calibri"/>
              </a:rPr>
              <a:t>worker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288036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88036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backend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384048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84048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frontend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2240280"/>
            <a:ext cx="1828800" cy="28346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2331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2496ED"/>
                </a:solidFill>
                <a:latin typeface="Calibri"/>
              </a:rPr>
              <a:t>worker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288036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288036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backend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84048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384048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frontend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5780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rede overlay  ·  routing mesh :8080 em qualquer nó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1691640"/>
            <a:ext cx="4206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Service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estado desejado: imagem, réplicas, limites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Task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1 container agendado num nó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Stack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services descritos num compose file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Secrets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em /run/secrets, criptografados no Raft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FFB020"/>
                </a:solidFill>
                <a:latin typeface="Calibri"/>
              </a:rPr>
              <a:t>x K8s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Swarm: simples e embutido; K8s: escala e ecossistema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8 · LAB07-SWARM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Rolling update: de NestJS para Go sem downtime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70432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swarm-init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54096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2304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swarm-deploy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59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21423" y="1755648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1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swarm-update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05088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6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rollback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swarm-rollback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66960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88752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swarm-down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246120"/>
            <a:ext cx="11109960" cy="219456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429000"/>
            <a:ext cx="10652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service update --image handson/api-go:scratch bmi_backend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watch docker service ps bmi_backend        # start-first: sobe a nova, mata a antiga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service rollback bmi_backend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service logs bmi_backend --tail 20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node update --availability drain &lt;nó&gt;    # multi-nó: tasks migram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6126480"/>
            <a:ext cx="5477255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126480"/>
            <a:ext cx="5477255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swarm-init swarm-deploy swarm-update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ENCERRAMENTO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Para levar para segunda-feira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21945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4708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4708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Aplicar o checklist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0632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nos Dockerfiles do time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comece pelo multi-stage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645920"/>
            <a:ext cx="3520440" cy="21945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79" y="184708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19" y="184708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Scan no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377440"/>
            <a:ext cx="30632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hadolint + trivy image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--exit-code 1 em CRITICAL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45920"/>
            <a:ext cx="3520440" cy="21945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19" y="184708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59" y="184708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Explorar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377440"/>
            <a:ext cx="30632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Docker Scout, Chainguard, DHI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Kubernetes: probes e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Repositório: </a:t>
            </a:r>
            <a:r>
              <a:rPr sz="1600" b="0" i="0">
                <a:solidFill>
                  <a:srgbClr val="A9BCD0"/>
                </a:solidFill>
                <a:latin typeface="Courier New"/>
              </a:rPr>
              <a:t>hands-on/README.md  ·  roteiro-containerizacao.md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Palestra AppSec: </a:t>
            </a:r>
            <a:r>
              <a:rPr sz="1600" b="0" i="0">
                <a:solidFill>
                  <a:srgbClr val="A9BCD0"/>
                </a:solidFill>
                <a:latin typeface="Courier New"/>
              </a:rPr>
              <a:t>roteiro-palestra.md  (DAST, SCA, DefectDojo)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3736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Perguntas?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5661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30632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0">
                <a:solidFill>
                  <a:srgbClr val="A9BCD0"/>
                </a:solidFill>
                <a:latin typeface="Calibri"/>
              </a:rPr>
              <a:t>Revotação: Alpine ou distroless?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35661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79" y="3566160"/>
            <a:ext cx="30632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0">
                <a:solidFill>
                  <a:srgbClr val="A9BCD0"/>
                </a:solidFill>
                <a:latin typeface="Calibri"/>
              </a:rPr>
              <a:t>Quem já teve módulo nativo quebrando no Alpine?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35661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19" y="3566160"/>
            <a:ext cx="30632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0">
                <a:solidFill>
                  <a:srgbClr val="A9BCD0"/>
                </a:solidFill>
                <a:latin typeface="Calibri"/>
              </a:rPr>
              <a:t>Vale a pena Swarm em 2026?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