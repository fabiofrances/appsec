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1568" y="0"/>
            <a:ext cx="82296" cy="68580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1887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>
                <a:solidFill>
                  <a:srgbClr val="FFFFFF"/>
                </a:solidFill>
                <a:latin typeface="Segoe UI"/>
              </a:rPr>
              <a:t>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0058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Application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874519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8BD4"/>
                </a:solidFill>
                <a:latin typeface="Segoe UI"/>
              </a:rPr>
              <a:t>Integrando Segurança 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468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8BD4"/>
                </a:solidFill>
                <a:latin typeface="Segoe UI"/>
              </a:rPr>
              <a:t>Ciclo de Desenvolvimento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BBCC"/>
                </a:solidFill>
                <a:latin typeface="Segoe UI"/>
              </a:rPr>
              <a:t>Calculadora de IMC como caso de estudo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931920"/>
            <a:ext cx="950976" cy="3017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931920"/>
            <a:ext cx="950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NestJS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1456" y="3931920"/>
            <a:ext cx="950976" cy="301752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1456" y="3931920"/>
            <a:ext cx="950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Vue.js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25312" y="3931920"/>
            <a:ext cx="950976" cy="30175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312" y="3931920"/>
            <a:ext cx="950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Docker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3931920"/>
            <a:ext cx="914400" cy="301752"/>
          </a:xfrm>
          <a:prstGeom prst="rect">
            <a:avLst/>
          </a:prstGeom>
          <a:solidFill>
            <a:srgbClr val="1A1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39319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Trivy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7868" y="3931920"/>
            <a:ext cx="1266444" cy="3017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7868" y="3931920"/>
            <a:ext cx="126644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OWASP ZAP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37192" y="3931920"/>
            <a:ext cx="1371600" cy="3017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3931920"/>
            <a:ext cx="13716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DefectDojo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github.com/questores/appsec-bmi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O que vamos ver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94360" cy="109728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39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325880"/>
            <a:ext cx="10789920" cy="10972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399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Backend NestJS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92807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Segoe UI"/>
              </a:rPr>
              <a:t>API REST com Swagger, OpenTelemetry e Prometheus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24328"/>
            <a:ext cx="594360" cy="109728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61488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624328"/>
            <a:ext cx="10789920" cy="10972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Frontend Vue.js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9125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Segoe UI"/>
              </a:rPr>
              <a:t>SPA com OpenTelemetry Web e proxy nginx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22776"/>
            <a:ext cx="594360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59936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922776"/>
            <a:ext cx="10789920" cy="10972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9959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Testes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8970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Segoe UI"/>
              </a:rPr>
              <a:t>Jest (backend) + Vitest (frontend) — cobertura completa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21224"/>
            <a:ext cx="594360" cy="109728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358384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5221224"/>
            <a:ext cx="10789920" cy="10972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29437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AppSec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8815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Segoe UI"/>
              </a:rPr>
              <a:t>Trivy · OWASP Dep. Check · OWASP ZAP · DefectDojo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O que é AppSec?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Shift Left Security — segurança desde o início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000"/>
                </a:solidFill>
                <a:latin typeface="Segoe UI"/>
              </a:rPr>
              <a:t>🔄  Shift Left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Integrar segurança desde o início do desenvolvimento — não apenas ao final,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antes de ir para produção. Custo de correção: até 6× maior em produção.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834640"/>
            <a:ext cx="1828800" cy="13716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880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Segoe UI"/>
              </a:rPr>
              <a:t>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520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834640"/>
            <a:ext cx="1828800" cy="13716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880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Segoe UI"/>
              </a:rP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520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834640"/>
            <a:ext cx="1828800" cy="13716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880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Segoe UI"/>
              </a:rPr>
              <a:t>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520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834640"/>
            <a:ext cx="1828800" cy="137160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880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Segoe UI"/>
              </a:rPr>
              <a:t>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520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2834640"/>
            <a:ext cx="1828800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2880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Segoe UI"/>
              </a:rP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520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2834640"/>
            <a:ext cx="1828800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2880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3520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Monitor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3292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34840"/>
            <a:ext cx="11430000" cy="5943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526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C88A"/>
                </a:solidFill>
                <a:latin typeface="Segoe UI"/>
              </a:rPr>
              <a:t>🛡️  Neste projeto:  Trivy  ·  OWASP Dependency Check  ·  OWASP ZAP  ·  DefectDojo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212080"/>
            <a:ext cx="11430000" cy="12801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285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Principais ameaças cobertas: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Segoe UI"/>
              </a:rPr>
              <a:t>CVEs em containers  ·  Dependências vulneráveis (SCA)  ·  SQL Injection  ·  XSS  ·  Headers inseguros  ·  CORS  ·  Secrets expostos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Arquitetura dos Serviços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Como os componentes se comunicam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2743200"/>
            <a:ext cx="1645920" cy="91440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2743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🌐
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920240"/>
            <a:ext cx="2103120" cy="2011680"/>
          </a:xfrm>
          <a:prstGeom prst="rect">
            <a:avLst/>
          </a:prstGeom>
          <a:solidFill>
            <a:srgbClr val="004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28600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🟩 Frontend :80
nginx + Vue.js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43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Segoe UI"/>
              </a:rPr>
              <a:t>→
/api/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920240"/>
            <a:ext cx="2103120" cy="2011680"/>
          </a:xfrm>
          <a:prstGeom prst="rect">
            <a:avLst/>
          </a:prstGeom>
          <a:solidFill>
            <a:srgbClr val="00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0574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🟦 Backend
NestJS :3000
+ :9464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188720"/>
            <a:ext cx="2194560" cy="1005840"/>
          </a:xfrm>
          <a:prstGeom prst="rect">
            <a:avLst/>
          </a:prstGeom>
          <a:solidFill>
            <a:srgbClr val="66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4173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🟠 Jaeger :16686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468880"/>
            <a:ext cx="2194560" cy="1005840"/>
          </a:xfrm>
          <a:prstGeom prst="rect">
            <a:avLst/>
          </a:prstGeom>
          <a:solidFill>
            <a:srgbClr val="55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697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🔴 Prometheus :9090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Segoe UI"/>
              </a:rPr>
              <a:t>→ OTel gRPC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8346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Segoe UI"/>
              </a:rPr>
              <a:t>→ scrape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840480"/>
            <a:ext cx="2651760" cy="1097280"/>
          </a:xfrm>
          <a:prstGeom prst="rect">
            <a:avLst/>
          </a:prstGeom>
          <a:solidFill>
            <a:srgbClr val="33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397763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🟣 DefectDojo :8081
nginx + Django + Celery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4846320"/>
            <a:ext cx="7132320" cy="155448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9194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B4B"/>
                </a:solidFill>
                <a:latin typeface="Segoe UI"/>
              </a:rPr>
              <a:t>🛡️  AppSec Scans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49240"/>
            <a:ext cx="1645920" cy="685800"/>
          </a:xfrm>
          <a:prstGeom prst="rect">
            <a:avLst/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3949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🐳 Trivy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5349240"/>
            <a:ext cx="1645920" cy="685800"/>
          </a:xfrm>
          <a:prstGeom prst="rect">
            <a:avLst/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8839" y="53949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📦 Dep. Check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5349240"/>
            <a:ext cx="1645920" cy="685800"/>
          </a:xfrm>
          <a:prstGeom prst="rect">
            <a:avLst/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53949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⚡ OWASP ZAP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349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→ reports/ → import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526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5CF6"/>
                </a:solidFill>
                <a:latin typeface="Segoe UI"/>
              </a:rPr>
              <a:t>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4160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  <a:latin typeface="Segoe UI"/>
              </a:rPr>
              <a:t>OTel
/otel/ proxy 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Segoe UI"/>
              </a:rPr>
              <a:t>↗ OTel HTTP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Etapa 1 — Backend NestJS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API REST com Swagger, OpenTelemetry e Prometheus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BD4"/>
                </a:solidFill>
                <a:latin typeface="Segoe UI"/>
              </a:rPr>
              <a:t>⚙️ 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🟢  Runtime: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874519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Node.js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6829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🔴  Framework: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368296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NestJS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62072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🔵  Linguagem: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6207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TypeScript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5584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📄  Docs: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355848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Swagger / OpenAPI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49624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✅  Validação: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849624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class-validator + class-transformer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43400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📡  Traces: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34340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OpenTelemetry SDK → Jaeger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3717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📊  Métricas: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837176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Prometheus / prom-client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30952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💚  Health: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533095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@nestjs/terminus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234440"/>
            <a:ext cx="594360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BD4"/>
                </a:solidFill>
                <a:latin typeface="Segoe UI"/>
              </a:rPr>
              <a:t>🌐  Endpoints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993392"/>
            <a:ext cx="914400" cy="301752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993392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97510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/bmi/calculate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42316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Calcula o IMC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136392"/>
            <a:ext cx="914400" cy="3017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136392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11810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/health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56616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Health check da aplicação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279392"/>
            <a:ext cx="914400" cy="3017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279392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261103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/api/docs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70915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Swagger UI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5422392"/>
            <a:ext cx="914400" cy="3017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5422392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404103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:9464/metrics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85215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Métricas Prometheus (porta separada)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Classificações de IMC (OMS)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Lógica de negócio do BmiService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292608" cy="676656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261872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89888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&lt;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389888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Severe Underweight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29967"/>
            <a:ext cx="292608" cy="676656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029967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57984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16 – 18.4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57984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Underweight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98063"/>
            <a:ext cx="292608" cy="676656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2798063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926079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18.5 – 24.9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926079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Normal weight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292608" cy="67665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3566160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94176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25 – 29.9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694176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Overweight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34256"/>
            <a:ext cx="292608" cy="67665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4334256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46227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30 – 34.9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462272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Obesity Class 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02352"/>
            <a:ext cx="292608" cy="676656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5102352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230368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35 – 39.9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230368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Obesity Class II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70448"/>
            <a:ext cx="292608" cy="676656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8" y="5870448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998464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≥ 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998464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Obesity Class III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Etapa 2 — Frontend Vue.js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SPA com OpenTelemetry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3474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8A"/>
                </a:solidFill>
                <a:latin typeface="Segoe UI"/>
              </a:rPr>
              <a:t>🖥️ 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🟩  Framework: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874519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Vue.js 3 (Composition 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6829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⚡  Build: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36829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Vite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62072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🔵  Linguagem: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6207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TypeScript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5584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📡  HTTP: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35584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Axios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49624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🛤️  Routing: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849624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Vue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43400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📊  Traces: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343400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OpenTelemetry Web SDK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234440"/>
            <a:ext cx="5943600" cy="3474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8A"/>
                </a:solidFill>
                <a:latin typeface="Segoe UI"/>
              </a:rPr>
              <a:t>🔀  Nginx Proxy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96596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96596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95681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→  Vue.js SPA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377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Arquivos estáticos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97180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97180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8BD4"/>
                </a:solidFill>
                <a:latin typeface="Segoe UI"/>
              </a:rPr>
              <a:t>/api/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96265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D4"/>
                </a:solidFill>
                <a:latin typeface="Segoe UI"/>
              </a:rPr>
              <a:t>→  backend:3000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383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Proxy da API 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977640"/>
            <a:ext cx="950976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977640"/>
            <a:ext cx="950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8C00"/>
                </a:solidFill>
                <a:latin typeface="Segoe UI"/>
              </a:rPr>
              <a:t>/otel/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96849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  <a:latin typeface="Segoe UI"/>
              </a:rPr>
              <a:t>→  jaeger:4318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Traces OTel (evita CORS)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892040"/>
            <a:ext cx="11430000" cy="164592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956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00"/>
                </a:solidFill>
                <a:latin typeface="Segoe UI"/>
              </a:rPr>
              <a:t>📡  Fluxo de Traces (Browser → Jaeger)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413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Vue.js  →  FetchInstrumentation  →  /otel/v1/traces  →  nginx proxy  →  Jaeger :4318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806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CC"/>
                </a:solidFill>
                <a:latin typeface="Segoe UI"/>
              </a:rPr>
              <a:t>Traces correlacionados entre frontend e backend via W3C TraceContext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Etapa 3 —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Jest (backend) + Vitest (frontend)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BD4"/>
                </a:solidFill>
                <a:latin typeface="Segoe UI"/>
              </a:rPr>
              <a:t>⚙️  Backend — Jest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120640" cy="123444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D4"/>
                </a:solidFill>
                <a:latin typeface="Segoe UI"/>
              </a:rPr>
              <a:t>bmi.service.spec.ts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468880"/>
            <a:ext cx="1161288" cy="301752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468880"/>
            <a:ext cx="11612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9 testes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980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Todas 7 classificações + valor IMC + campos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5120640" cy="123444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39242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D4"/>
                </a:solidFill>
                <a:latin typeface="Segoe UI"/>
              </a:rPr>
              <a:t>bmi.controller.spec.ts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886200"/>
            <a:ext cx="1161288" cy="301752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86200"/>
            <a:ext cx="11612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 testes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2153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Definição, resultado correto, delegação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5120640" cy="123444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80974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D4"/>
                </a:solidFill>
                <a:latin typeface="Segoe UI"/>
              </a:rPr>
              <a:t>app.e2e-spec.ts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5303520"/>
            <a:ext cx="1161288" cy="301752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303520"/>
            <a:ext cx="11612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6 testes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327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POST /bmi + 4 validações + GET /health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234440"/>
            <a:ext cx="57607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8A"/>
                </a:solidFill>
                <a:latin typeface="Segoe UI"/>
              </a:rPr>
              <a:t>🖥️  Frontend — Vitest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920240"/>
            <a:ext cx="5486400" cy="96012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19751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A"/>
                </a:solidFill>
                <a:latin typeface="Segoe UI"/>
              </a:rPr>
              <a:t>BmiForm.spec.ts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4505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Renderização e envio do formulário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035808"/>
            <a:ext cx="5486400" cy="96012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30906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A"/>
                </a:solidFill>
                <a:latin typeface="Segoe UI"/>
              </a:rPr>
              <a:t>BmiResult.spec.ts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566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Cores por classificação, evento reset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151376"/>
            <a:ext cx="5486400" cy="96012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4206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A"/>
                </a:solidFill>
                <a:latin typeface="Segoe UI"/>
              </a:rPr>
              <a:t>bmi.service.spec.ts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6817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Chamada à API via Axios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66944"/>
            <a:ext cx="5486400" cy="96012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5321807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A"/>
                </a:solidFill>
                <a:latin typeface="Segoe UI"/>
              </a:rPr>
              <a:t>useBmi.spec.ts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57972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Estados: loading / error /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Etapa 4 — AppSec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Ferramentas de segurança integradas ao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788920" cy="3749039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788920" cy="54864"/>
          </a:xfrm>
          <a:prstGeom prst="rect">
            <a:avLst/>
          </a:prstGeom>
          <a:solidFill>
            <a:srgbClr val="CB6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2788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37744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SonarQube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26080"/>
            <a:ext cx="914400" cy="301752"/>
          </a:xfrm>
          <a:prstGeom prst="rect">
            <a:avLst/>
          </a:prstGeom>
          <a:solidFill>
            <a:srgbClr val="CB6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0156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Segoe UI"/>
              </a:rPr>
              <a:t>Análise estática
do código fonte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43200"/>
            <a:ext cx="228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325880"/>
            <a:ext cx="2788920" cy="3749039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18688" y="1325880"/>
            <a:ext cx="2788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8688" y="1417320"/>
            <a:ext cx="2788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FFFFFF"/>
                </a:solidFill>
                <a:latin typeface="Segoe UI"/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237744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Dep. Check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30168" y="2926080"/>
            <a:ext cx="914400" cy="3017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292608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340156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Segoe UI"/>
              </a:rPr>
              <a:t>Dependências
vulneráveis (NVD)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743200"/>
            <a:ext cx="228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1325880"/>
            <a:ext cx="2788920" cy="3749039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1325880"/>
            <a:ext cx="278892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1417320"/>
            <a:ext cx="2788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FFFFFF"/>
                </a:solidFill>
                <a:latin typeface="Segoe UI"/>
              </a:rPr>
              <a:t>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37744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Trivy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74536" y="2926080"/>
            <a:ext cx="1792224" cy="30175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2926080"/>
            <a:ext cx="179222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Container 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340156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Segoe UI"/>
              </a:rPr>
              <a:t>CVEs nas
imagens Docker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2743200"/>
            <a:ext cx="228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07424" y="1325880"/>
            <a:ext cx="2788920" cy="3749039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07424" y="1325880"/>
            <a:ext cx="2788920" cy="54864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7424" y="1417320"/>
            <a:ext cx="2788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237744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OWASP ZAP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18904" y="2926080"/>
            <a:ext cx="914400" cy="3017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18904" y="292608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340156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Segoe UI"/>
              </a:rPr>
              <a:t>Vulnerabilidades
HTTP em runtime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120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5120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1776" y="5120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96144" y="5120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5577840"/>
            <a:ext cx="5943600" cy="914400"/>
          </a:xfrm>
          <a:prstGeom prst="rect">
            <a:avLst/>
          </a:prstGeom>
          <a:solidFill>
            <a:srgbClr val="33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08960" y="5577840"/>
            <a:ext cx="59436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0" y="565099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🟣  DefectDojo — Aggregator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605332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Segoe UI"/>
              </a:rPr>
              <a:t>Centraliza, prioriza e gerencia todos os findings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B6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SonarQube — SAST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Static Application Security Testing — análise do código fonte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CB6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B6E17"/>
                </a:solidFill>
                <a:latin typeface="Segoe UI"/>
              </a:rPr>
              <a:t>🔍  O que analisa?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🐛  Bugs e code smells no código fonte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💉  Vulnerabilidades de segurança (OWASP)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🔑  Hardcoded secrets e credenciais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📊  Cobertura de testes (integra Jest/Vitest)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976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🔁  Código duplicado e complexidade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920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📋  Violações de boas práticas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34440"/>
            <a:ext cx="5943600" cy="29260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B6E17"/>
                </a:solidFill>
                <a:latin typeface="Segoe UI"/>
              </a:rPr>
              <a:t>🚦  Quality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82880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Bloqueia o merge/deploy se os critérios
de qualidade e segurança não forem atingidos: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5786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4B4B"/>
                </a:solidFill>
                <a:latin typeface="Segoe UI"/>
              </a:rPr>
              <a:t>  • 0 vulnerabilidades novas (blocker/critical)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98094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8A"/>
                </a:solidFill>
                <a:latin typeface="Segoe UI"/>
              </a:rPr>
              <a:t>  • Cobertura de testes &gt;=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38327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  <a:latin typeface="Segoe UI"/>
              </a:rPr>
              <a:t>  • 0 bugs e code smells críticos novos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785615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  • Duplicacao &lt; 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343400"/>
            <a:ext cx="5943600" cy="219456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434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🔄  Onde entra no pipeline?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4956048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4956048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956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Developer faz push para o repositório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5376672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5376672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3766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GitHub Actions executa sonar-scanner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5797296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5797296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7972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SonarQube analisa e calcula Quality Gate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621792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62179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6217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8A"/>
                </a:solidFill>
                <a:latin typeface="Segoe UI"/>
              </a:rPr>
              <a:t>PASS = merge liberado / FAIL = bloqueado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Trivy — Container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Identificação de CVEs nas imagens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BD4"/>
                </a:solidFill>
                <a:latin typeface="Segoe UI"/>
              </a:rPr>
              <a:t>🐳  O que analisa?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📦  Pacotes do OS (Alpine / Debian)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🔷  Dependências da aplicação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🔑  Secrets e credenciais expostas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⚙️  Configurações inseguras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976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📋  Licenças de software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937760"/>
            <a:ext cx="5303520" cy="15544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02920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BBCC"/>
                </a:solidFill>
                <a:latin typeface="Segoe UI"/>
              </a:rPr>
              <a:t>🎯  Severidades: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486400"/>
            <a:ext cx="1161288" cy="30175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11612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CRITICAL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5486400"/>
            <a:ext cx="914400" cy="3017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548640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5486400"/>
            <a:ext cx="950976" cy="3017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5486400"/>
            <a:ext cx="950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234440"/>
            <a:ext cx="5943600" cy="256032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325880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8A"/>
                </a:solidFill>
                <a:latin typeface="Segoe UI"/>
              </a:rPr>
              <a:t>$ trivy image \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828800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--format json \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331720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--severity CRITICAL,HIGH,MEDIUM \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834640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00"/>
                </a:solidFill>
                <a:latin typeface="Segoe UI"/>
              </a:rPr>
              <a:t>  appsec-bmi-backend:latest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4023360"/>
            <a:ext cx="5943600" cy="24688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📊  Resultados da última execução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663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B4B"/>
                </a:solidFill>
                <a:latin typeface="Segoe UI"/>
              </a:rPr>
              <a:t>🔴  Backend:   3 vulnerabilidades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1023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8C00"/>
                </a:solidFill>
                <a:latin typeface="Segoe UI"/>
              </a:rPr>
              <a:t>🟠  Frontend: 77 vulnerabilidades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532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CC"/>
                </a:solidFill>
                <a:latin typeface="Segoe UI"/>
              </a:rPr>
              <a:t>(maioria: pacotes OS Alpine 3.21)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OWASP Dependency Check — SCA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Software Composition Analysis das dependências npm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  <a:latin typeface="Segoe UI"/>
              </a:rPr>
              <a:t>📦  O que analisa?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📄  package.json / package-lock.json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🗂️  node_modules (backend + frontend)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🔗  CVEs no banco NVD — NIST (346k+)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📋  Vulnerabilidades por versão de pacote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976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🏷️  Licenças permissivas / restritivas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34440"/>
            <a:ext cx="5943600" cy="2286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25880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A"/>
                </a:solidFill>
                <a:latin typeface="Segoe UI"/>
              </a:rPr>
              <a:t>$ docker run owasp/dependency-check \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--scan /src/backend \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240280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--scan /src/frontend \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697480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000"/>
                </a:solidFill>
                <a:latin typeface="Segoe UI"/>
              </a:rPr>
              <a:t>  --format JSON --format HTML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749039"/>
            <a:ext cx="5943600" cy="27432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000"/>
                </a:solidFill>
                <a:latin typeface="Segoe UI"/>
              </a:rPr>
              <a:t>⚠️  Sobre o NVD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389120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Banco com 346.000+ CVEs registrados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864608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  <a:latin typeface="Segoe UI"/>
              </a:rPr>
              <a:t>• Primeira execução: ~30 min sem API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34009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8A"/>
                </a:solidFill>
                <a:latin typeface="Segoe UI"/>
              </a:rPr>
              <a:t>• Volume Docker persiste — próximas = rápido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815583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• NVD API Key gratuita → 10× mais rápido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OWASP ZAP — DAST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Dynamic Application Security Testing em runtime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4B4B"/>
                </a:solidFill>
                <a:latin typeface="Segoe UI"/>
              </a:rPr>
              <a:t>⚡  O que analisa?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🕷️  Crawler automático (full scan)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💉  SQL Injection / XSS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🔓  Falhas de autenticação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📡  Headers HTTP inseguros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1480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🔒  Configuração de CORS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6344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🗺️  Endpoints expostos indevidamente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212079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🔁  CSRF e clickjacking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234440"/>
            <a:ext cx="5943600" cy="18288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⚙️  Regras suprimidas (zap-rules.tsv)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8288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IGNORE  10015  Cache-control Header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21284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IGNORE  10096  Timestamp Disclosure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59689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IGNORE  10027  Suspicious Comments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291840"/>
            <a:ext cx="5943600" cy="32004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B4B"/>
                </a:solidFill>
                <a:latin typeface="Segoe UI"/>
              </a:rPr>
              <a:t>🔄  Fluxo de execução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93192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9319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9319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ZAP acessa http://localhost:80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438912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43891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3891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Crawler mapeia todos os endpoints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484632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48463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846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Executa testes de vulnerabilidade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530352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53035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3035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Gera JSON + HTML em reports/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576072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57607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7607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8A"/>
                </a:solidFill>
                <a:latin typeface="Segoe UI"/>
              </a:rPr>
              <a:t>Importa findings no DefectDojo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DefectDojo — Aggregator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Centralização e gestão de vulnerabilidades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Segoe UI"/>
              </a:rPr>
              <a:t>🟣  O que é?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📋  Agrega findings de todas as ferramentas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🎯  Prioriza por severidade e risco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✅  Controle de falso-positivos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📈  Histórico de vulnerabilidades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976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🔔  Deduplication automática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920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🔗  Integração com Jira, Slack e mais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34440"/>
            <a:ext cx="594360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Segoe UI"/>
              </a:rPr>
              <a:t>🐳  Stack de Containers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920240"/>
            <a:ext cx="64008" cy="6583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9476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defectdojo-nginx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0428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Proxy + assets estáticos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697480"/>
            <a:ext cx="64008" cy="6583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724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uwsgi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08152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Django app via uWSGI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474720"/>
            <a:ext cx="64008" cy="65836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502151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defectdojo-celeryworker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85876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Processa imports em background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251960"/>
            <a:ext cx="64008" cy="65836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27939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defectdojo-celerybeat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6360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Agendamento de tarefas periódicas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5029200"/>
            <a:ext cx="64008" cy="65836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05663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redis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4132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Broker de tarefas Celery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806440"/>
            <a:ext cx="64008" cy="6583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8338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postgres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619048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Banco de dados principal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943600"/>
            <a:ext cx="11430000" cy="5943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0350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🔗  http://localhost:8081  •  admin / admin@dojo123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GitHub Actions — CI/CD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Scans automáticos em cada push / PR para 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788920" cy="384048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🧪 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09928"/>
            <a:ext cx="2788920" cy="3017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8013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Jest + Vitest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395728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Valida que nenhum teste quebrou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346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25880"/>
            <a:ext cx="27889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📦  dependency-check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709928"/>
            <a:ext cx="2788920" cy="3017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8013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OWASP Dep.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95728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SCA das dependências npm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8346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325880"/>
            <a:ext cx="2788920" cy="38404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🐳  trivy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709928"/>
            <a:ext cx="2788920" cy="3017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18013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Trivy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2395728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Scan das imagens backend e 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8346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325880"/>
            <a:ext cx="2788920" cy="38404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⚡  zap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709928"/>
            <a:ext cx="2788920" cy="3017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18013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OWASP ZAP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395728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DAST contra o stack completo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37760"/>
            <a:ext cx="11430000" cy="6858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📁  Artefatos: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029200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trivy-report.json  ·  dependency-check-report.html  ·  zap-report.json  ·  zap-report.html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897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5CF6"/>
                </a:solidFill>
                <a:latin typeface="Segoe UI"/>
              </a:rPr>
              <a:t>🟣  Secrets:  DEFECTDOJO_URL  +  DEFECTDOJO_TOKEN  +  DEFECTDOJO_PRODUCT_ID  →  import automático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Princípios Aplicados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Boas práticas de desenvolvimento seguro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4864" cy="146304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🏗️  SOLID / MVC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Controller → Service → DTO — responsabilidade única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325880"/>
            <a:ext cx="54864" cy="146304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9903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✅  Validação na borda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47672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ValidationPipe global: whitelist + transform + rejeita extras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39"/>
            <a:ext cx="54864" cy="1463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36391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🔒  Container seguro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85031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node:22-alpine, usuário não-root, multi-stage build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063239"/>
            <a:ext cx="54864" cy="14630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36391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📊  Métricas isoladas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85031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:9464 não exposta publicamente — apenas para o Prometheus interno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54864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7375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📡  Observabilidade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22392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Traces correlacionados via W3C TraceContext (frontend ↔ backend)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4800600"/>
            <a:ext cx="54864" cy="146304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87375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🛡️  Segurança contínua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422392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SCA + Container Scan + DAST automatizados em cada push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365760"/>
            <a:ext cx="5788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5915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ABBCC"/>
                </a:solidFill>
                <a:latin typeface="Segoe UI"/>
              </a:rPr>
              <a:t>AppSec não é um produto — é uma cultura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063240"/>
            <a:ext cx="8531352" cy="3017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200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✅  Segurança integrada ao pipeline, não uma etapa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73075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✅  Ferramentas open-source e gratuitas já resolvem muito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26110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✅  Automação via GitHub Actions — zero esforço por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79145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✅  DefectDojo centraliza e prioriza o que realmente importa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32180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✅  Shift Left = custo menor, qualidade maior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🙋  Perguntas?  •  github.com/questores/appsec-bmi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