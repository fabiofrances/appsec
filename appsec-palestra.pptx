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74720" cy="685800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01568" y="0"/>
            <a:ext cx="82296" cy="6858000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1887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0" i="0">
                <a:solidFill>
                  <a:srgbClr val="FFFFFF"/>
                </a:solidFill>
                <a:latin typeface="Segoe UI"/>
              </a:rPr>
              <a:t>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0058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Application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874519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008BD4"/>
                </a:solidFill>
                <a:latin typeface="Segoe UI"/>
              </a:rPr>
              <a:t>Integrando Segurança 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468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008BD4"/>
                </a:solidFill>
                <a:latin typeface="Segoe UI"/>
              </a:rPr>
              <a:t>Ciclo de Desenvolvimento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246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AABBCC"/>
                </a:solidFill>
                <a:latin typeface="Segoe UI"/>
              </a:rPr>
              <a:t>Calculadora de IMC como caso de estudo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3931920"/>
            <a:ext cx="950976" cy="301752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3931920"/>
            <a:ext cx="950976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NestJS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91456" y="3931920"/>
            <a:ext cx="950976" cy="301752"/>
          </a:xfrm>
          <a:prstGeom prst="rect">
            <a:avLst/>
          </a:prstGeom>
          <a:solidFill>
            <a:srgbClr val="00C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91456" y="3931920"/>
            <a:ext cx="950976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Vue.js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25312" y="3931920"/>
            <a:ext cx="950976" cy="301752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25312" y="3931920"/>
            <a:ext cx="950976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Docker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59168" y="3931920"/>
            <a:ext cx="914400" cy="301752"/>
          </a:xfrm>
          <a:prstGeom prst="rect">
            <a:avLst/>
          </a:prstGeom>
          <a:solidFill>
            <a:srgbClr val="1A1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59168" y="3931920"/>
            <a:ext cx="9144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Trivy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7868" y="3931920"/>
            <a:ext cx="1266444" cy="301752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7868" y="3931920"/>
            <a:ext cx="1266444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OWASP ZAP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37192" y="3931920"/>
            <a:ext cx="1371600" cy="3017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37192" y="3931920"/>
            <a:ext cx="13716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DefectDojo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65105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Segoe UI"/>
              </a:rPr>
              <a:t>github.com/questores/appsec-bmi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ABBCC"/>
                </a:solidFill>
                <a:latin typeface="Segoe UI"/>
              </a:rPr>
              <a:t>O que vamos ver hoje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78992"/>
            <a:ext cx="11430000" cy="22860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94360" cy="1097280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63039"/>
            <a:ext cx="594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1325880"/>
            <a:ext cx="10789920" cy="109728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39903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Backend NestJS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892807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BBCC"/>
                </a:solidFill>
                <a:latin typeface="Segoe UI"/>
              </a:rPr>
              <a:t>API REST com Swagger, OpenTelemetry e Prometheus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24328"/>
            <a:ext cx="594360" cy="1097280"/>
          </a:xfrm>
          <a:prstGeom prst="rect">
            <a:avLst/>
          </a:prstGeom>
          <a:solidFill>
            <a:srgbClr val="00C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761488"/>
            <a:ext cx="594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2624328"/>
            <a:ext cx="10789920" cy="109728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6974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Frontend Vue.js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191256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BBCC"/>
                </a:solidFill>
                <a:latin typeface="Segoe UI"/>
              </a:rPr>
              <a:t>SPA com OpenTelemetry Web e proxy nginx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922776"/>
            <a:ext cx="594360" cy="10972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059936"/>
            <a:ext cx="594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922776"/>
            <a:ext cx="10789920" cy="109728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399592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Testes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489704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BBCC"/>
                </a:solidFill>
                <a:latin typeface="Segoe UI"/>
              </a:rPr>
              <a:t>Jest (backend) + Vitest (frontend) — cobertura completa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221224"/>
            <a:ext cx="594360" cy="1097280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5358384"/>
            <a:ext cx="594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1560" y="5221224"/>
            <a:ext cx="10789920" cy="109728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529437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AppSec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8815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BBCC"/>
                </a:solidFill>
                <a:latin typeface="Segoe UI"/>
              </a:rPr>
              <a:t>Trivy · OWASP Dep. Check · OWASP ZAP · DefectDojo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O que é AppSec?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ABBCC"/>
                </a:solidFill>
                <a:latin typeface="Segoe UI"/>
              </a:rPr>
              <a:t>Shift Left Security — segurança desde o início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78992"/>
            <a:ext cx="11430000" cy="22860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D000"/>
                </a:solidFill>
                <a:latin typeface="Segoe UI"/>
              </a:rPr>
              <a:t>🔄  Shift Left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Segoe UI"/>
              </a:rPr>
              <a:t>Integrar segurança desde o início do desenvolvimento — não apenas ao final,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7627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BBCC"/>
                </a:solidFill>
                <a:latin typeface="Segoe UI"/>
              </a:rPr>
              <a:t>antes de ir para produção. Custo de correção: até 6× maior em produção.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834640"/>
            <a:ext cx="1828800" cy="137160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880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Segoe UI"/>
              </a:rPr>
              <a:t>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52044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3832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BBCC"/>
                </a:solidFill>
                <a:latin typeface="Segoe U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2834640"/>
            <a:ext cx="1828800" cy="1371600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00" y="2880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Segoe UI"/>
              </a:rPr>
              <a:t>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52044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33832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BBCC"/>
                </a:solidFill>
                <a:latin typeface="Segoe U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2834640"/>
            <a:ext cx="1828800" cy="1371600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60" y="2880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Segoe UI"/>
              </a:rPr>
              <a:t>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352044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3832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BBCC"/>
                </a:solidFill>
                <a:latin typeface="Segoe U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834640"/>
            <a:ext cx="1828800" cy="1371600"/>
          </a:xfrm>
          <a:prstGeom prst="rect">
            <a:avLst/>
          </a:prstGeom>
          <a:solidFill>
            <a:srgbClr val="00C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2880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Segoe UI"/>
              </a:rPr>
              <a:t>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2044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33832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BBCC"/>
                </a:solidFill>
                <a:latin typeface="Segoe U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80" y="2834640"/>
            <a:ext cx="1828800" cy="13716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83880" y="2880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Segoe UI"/>
              </a:rPr>
              <a:t>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80" y="352044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Deploy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33832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BBCC"/>
                </a:solidFill>
                <a:latin typeface="Segoe U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49840" y="2834640"/>
            <a:ext cx="1828800" cy="137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2880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Segoe UI"/>
              </a:rPr>
              <a:t>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52044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Monitor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32920" y="33832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BBCC"/>
                </a:solidFill>
                <a:latin typeface="Segoe U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434840"/>
            <a:ext cx="11430000" cy="59436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5262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00C88A"/>
                </a:solidFill>
                <a:latin typeface="Segoe UI"/>
              </a:rPr>
              <a:t>🛡️  Neste projeto:  Trivy  ·  OWASP Dependency Check  ·  OWASP ZAP  ·  DefectDojo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212080"/>
            <a:ext cx="11430000" cy="128016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285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Principais ameaças cobertas: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  <a:latin typeface="Segoe UI"/>
              </a:rPr>
              <a:t>CVEs em containers  ·  Dependências vulneráveis (SCA)  ·  SQL Injection  ·  XSS  ·  Headers inseguros  ·  CORS  ·  Secrets expostos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Arquitetura dos Serviços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ABBCC"/>
                </a:solidFill>
                <a:latin typeface="Segoe UI"/>
              </a:rPr>
              <a:t>Como os componentes se comunicam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78992"/>
            <a:ext cx="11430000" cy="228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2743200"/>
            <a:ext cx="1645920" cy="91440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27432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Segoe UI"/>
              </a:rPr>
              <a:t>🌐
Browser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3063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Segoe U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920240"/>
            <a:ext cx="2103120" cy="2011680"/>
          </a:xfrm>
          <a:prstGeom prst="rect">
            <a:avLst/>
          </a:prstGeom>
          <a:solidFill>
            <a:srgbClr val="004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Segoe UI"/>
              </a:rPr>
              <a:t>🟩 Frontend :80
nginx + Vue.js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7432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BBCC"/>
                </a:solidFill>
                <a:latin typeface="Segoe UI"/>
              </a:rPr>
              <a:t>→
/api/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66360" y="1920240"/>
            <a:ext cx="2103120" cy="2011680"/>
          </a:xfrm>
          <a:prstGeom prst="rect">
            <a:avLst/>
          </a:prstGeom>
          <a:solidFill>
            <a:srgbClr val="002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205740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egoe UI"/>
              </a:rPr>
              <a:t>🟦 Backend
NestJS :3000
+ :9464 metrics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1188720"/>
            <a:ext cx="2194560" cy="1005840"/>
          </a:xfrm>
          <a:prstGeom prst="rect">
            <a:avLst/>
          </a:prstGeom>
          <a:solidFill>
            <a:srgbClr val="662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141732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Segoe UI"/>
              </a:rPr>
              <a:t>🟠 Jaeger :16686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2468880"/>
            <a:ext cx="2194560" cy="1005840"/>
          </a:xfrm>
          <a:prstGeom prst="rect">
            <a:avLst/>
          </a:prstGeom>
          <a:solidFill>
            <a:srgbClr val="551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269748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egoe UI"/>
              </a:rPr>
              <a:t>🔴 Prometheus :9090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103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Segoe UI"/>
              </a:rPr>
              <a:t>→ OTel gRPC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8346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Segoe UI"/>
              </a:rPr>
              <a:t>→ scrape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3840480"/>
            <a:ext cx="2651760" cy="1097280"/>
          </a:xfrm>
          <a:prstGeom prst="rect">
            <a:avLst/>
          </a:prstGeom>
          <a:solidFill>
            <a:srgbClr val="330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3977639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egoe UI"/>
              </a:rPr>
              <a:t>🟣 DefectDojo :8081
nginx + Django + Celery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846320"/>
            <a:ext cx="7132320" cy="155448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9194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B4B"/>
                </a:solidFill>
                <a:latin typeface="Segoe UI"/>
              </a:rPr>
              <a:t>🛡️  AppSec Scans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349240"/>
            <a:ext cx="1645920" cy="685800"/>
          </a:xfrm>
          <a:prstGeom prst="rect">
            <a:avLst/>
          </a:prstGeom>
          <a:solidFill>
            <a:srgbClr val="3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539496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Segoe UI"/>
              </a:rPr>
              <a:t>🐳 Trivy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03120" y="5349240"/>
            <a:ext cx="1645920" cy="685800"/>
          </a:xfrm>
          <a:prstGeom prst="rect">
            <a:avLst/>
          </a:prstGeom>
          <a:solidFill>
            <a:srgbClr val="3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48839" y="539496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Segoe UI"/>
              </a:rPr>
              <a:t>📦 Dep. Check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0" y="5349240"/>
            <a:ext cx="1645920" cy="685800"/>
          </a:xfrm>
          <a:prstGeom prst="rect">
            <a:avLst/>
          </a:prstGeom>
          <a:solidFill>
            <a:srgbClr val="3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6200" y="539496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Segoe UI"/>
              </a:rPr>
              <a:t>⚡ OWASP ZAP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53492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Segoe UI"/>
              </a:rPr>
              <a:t>→ reports/ → import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45262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8B5CF6"/>
                </a:solidFill>
                <a:latin typeface="Segoe UI"/>
              </a:rPr>
              <a:t>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1605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ABBCC"/>
                </a:solidFill>
                <a:latin typeface="Segoe UI"/>
              </a:rPr>
              <a:t>OTel
/otel/ proxy 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1508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Segoe UI"/>
              </a:rPr>
              <a:t>↗ OTel HTTP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Etapa 1 — Backend NestJS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ABBCC"/>
                </a:solidFill>
                <a:latin typeface="Segoe UI"/>
              </a:rPr>
              <a:t>API REST com Swagger, OpenTelemetry e Prometheus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78992"/>
            <a:ext cx="11430000" cy="22860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03520" cy="530352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BD4"/>
                </a:solidFill>
                <a:latin typeface="Segoe UI"/>
              </a:rPr>
              <a:t>⚙️ 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74519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🟢  Runtime: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874519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Node.js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🔴  Framework: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368296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NestJS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86207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🔵  Linguagem: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862072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TypeScript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355848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📄  Docs: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3355848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Swagger / OpenAPI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849624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✅  Validação: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849624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class-validator + class-transformer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343400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📡  Traces: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4343400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OpenTelemetry SDK → Jaeger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837176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📊  Métricas: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4837176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Prometheus / prom-client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33095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💚  Health: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5330952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@nestjs/terminus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1234440"/>
            <a:ext cx="5943600" cy="530352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0" y="1325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BD4"/>
                </a:solidFill>
                <a:latin typeface="Segoe UI"/>
              </a:rPr>
              <a:t>🌐  Endpoints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1993392"/>
            <a:ext cx="914400" cy="301752"/>
          </a:xfrm>
          <a:prstGeom prst="rect">
            <a:avLst/>
          </a:prstGeom>
          <a:solidFill>
            <a:srgbClr val="00C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993392"/>
            <a:ext cx="9144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POST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1975104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/bmi/calculate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423160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Calcula o IMC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3136392"/>
            <a:ext cx="914400" cy="3017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3136392"/>
            <a:ext cx="9144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GET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3118104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/health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3566160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Health check da aplicação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6480" y="4279392"/>
            <a:ext cx="914400" cy="30175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0" y="4279392"/>
            <a:ext cx="9144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4261103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/api/docs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4709159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Swagger UI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5422392"/>
            <a:ext cx="914400" cy="301752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0" y="5422392"/>
            <a:ext cx="9144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GET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404103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:9464/metrics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5852159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Métricas Prometheus (porta separada)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Classificações de IMC (OMS)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ABBCC"/>
                </a:solidFill>
                <a:latin typeface="Segoe UI"/>
              </a:rPr>
              <a:t>Lógica de negócio do BmiService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78992"/>
            <a:ext cx="11430000" cy="22860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61872"/>
            <a:ext cx="292608" cy="676656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261872"/>
            <a:ext cx="10881360" cy="676656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389888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BBCC"/>
                </a:solidFill>
                <a:latin typeface="Segoe UI"/>
              </a:rPr>
              <a:t>&lt;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389888"/>
            <a:ext cx="7589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Severe Underweight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29967"/>
            <a:ext cx="292608" cy="676656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029967"/>
            <a:ext cx="10881360" cy="676656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157984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BBCC"/>
                </a:solidFill>
                <a:latin typeface="Segoe UI"/>
              </a:rPr>
              <a:t>16 – 18.4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157984"/>
            <a:ext cx="7589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Underweight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98063"/>
            <a:ext cx="292608" cy="676656"/>
          </a:xfrm>
          <a:prstGeom prst="rect">
            <a:avLst/>
          </a:prstGeom>
          <a:solidFill>
            <a:srgbClr val="00C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8" y="2798063"/>
            <a:ext cx="10881360" cy="676656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926079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BBCC"/>
                </a:solidFill>
                <a:latin typeface="Segoe UI"/>
              </a:rPr>
              <a:t>18.5 – 24.9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926079"/>
            <a:ext cx="7589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Normal weight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66160"/>
            <a:ext cx="292608" cy="67665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8" y="3566160"/>
            <a:ext cx="10881360" cy="676656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694176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BBCC"/>
                </a:solidFill>
                <a:latin typeface="Segoe UI"/>
              </a:rPr>
              <a:t>25 – 29.9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3694176"/>
            <a:ext cx="7589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Overweight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334256"/>
            <a:ext cx="292608" cy="676656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9808" y="4334256"/>
            <a:ext cx="10881360" cy="676656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462272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BBCC"/>
                </a:solidFill>
                <a:latin typeface="Segoe UI"/>
              </a:rPr>
              <a:t>30 – 34.9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4462272"/>
            <a:ext cx="7589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Obesity Class 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102352"/>
            <a:ext cx="292608" cy="676656"/>
          </a:xfrm>
          <a:prstGeom prst="rect">
            <a:avLst/>
          </a:prstGeom>
          <a:solidFill>
            <a:srgbClr val="CC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5102352"/>
            <a:ext cx="10881360" cy="676656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230368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BBCC"/>
                </a:solidFill>
                <a:latin typeface="Segoe UI"/>
              </a:rPr>
              <a:t>35 – 39.9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230368"/>
            <a:ext cx="7589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Obesity Class II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870448"/>
            <a:ext cx="292608" cy="676656"/>
          </a:xfrm>
          <a:prstGeom prst="rect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8" y="5870448"/>
            <a:ext cx="10881360" cy="676656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998464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BBCC"/>
                </a:solidFill>
                <a:latin typeface="Segoe UI"/>
              </a:rPr>
              <a:t>≥ 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0" y="5998464"/>
            <a:ext cx="7589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Obesity Class III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Etapa 2 — Frontend Vue.js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ABBCC"/>
                </a:solidFill>
                <a:latin typeface="Segoe UI"/>
              </a:rPr>
              <a:t>SPA com OpenTelemetry Web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78992"/>
            <a:ext cx="11430000" cy="22860"/>
          </a:xfrm>
          <a:prstGeom prst="rect">
            <a:avLst/>
          </a:prstGeom>
          <a:solidFill>
            <a:srgbClr val="00C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03520" cy="347472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8A"/>
                </a:solidFill>
                <a:latin typeface="Segoe UI"/>
              </a:rPr>
              <a:t>🖥️ 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74519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🟩  Framework: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874519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Vue.js 3 (Composition API)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⚡  Build: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36829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Vite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86207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🔵  Linguagem: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862072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TypeScript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355848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📡  HTTP: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3355848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Axios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849624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🛤️  Routing: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849624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Vue Router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343400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📊  Traces: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4343400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OpenTelemetry Web SDK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1234440"/>
            <a:ext cx="5943600" cy="347472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1325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8A"/>
                </a:solidFill>
                <a:latin typeface="Segoe UI"/>
              </a:rPr>
              <a:t>🔀  Nginx Proxy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1965960"/>
            <a:ext cx="914400" cy="301752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1965960"/>
            <a:ext cx="9144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56816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→  Vue.js SPA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3774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Segoe UI"/>
              </a:rPr>
              <a:t>Arquivos estáticos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2971800"/>
            <a:ext cx="914400" cy="301752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2971800"/>
            <a:ext cx="9144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008BD4"/>
                </a:solidFill>
                <a:latin typeface="Segoe UI"/>
              </a:rPr>
              <a:t>/api/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2962656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D4"/>
                </a:solidFill>
                <a:latin typeface="Segoe UI"/>
              </a:rPr>
              <a:t>→  backend:3000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33832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Segoe UI"/>
              </a:rPr>
              <a:t>Proxy da API REST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3977640"/>
            <a:ext cx="950976" cy="301752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3977640"/>
            <a:ext cx="950976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8C00"/>
                </a:solidFill>
                <a:latin typeface="Segoe UI"/>
              </a:rPr>
              <a:t>/otel/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3968496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C00"/>
                </a:solidFill>
                <a:latin typeface="Segoe UI"/>
              </a:rPr>
              <a:t>→  jaeger:4318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38912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Segoe UI"/>
              </a:rPr>
              <a:t>Traces OTel (evita CORS)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892040"/>
            <a:ext cx="11430000" cy="164592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95604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8C00"/>
                </a:solidFill>
                <a:latin typeface="Segoe UI"/>
              </a:rPr>
              <a:t>📡  Fluxo de Traces (Browser → Jaeger)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54132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Vue.js  →  FetchInstrumentation  →  /otel/v1/traces  →  nginx proxy  →  Jaeger :4318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8064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ABBCC"/>
                </a:solidFill>
                <a:latin typeface="Segoe UI"/>
              </a:rPr>
              <a:t>Traces correlacionados entre frontend e backend via W3C TraceContext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Etapa 3 — 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ABBCC"/>
                </a:solidFill>
                <a:latin typeface="Segoe UI"/>
              </a:rPr>
              <a:t>Jest (backend) + Vitest (frontend)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78992"/>
            <a:ext cx="11430000" cy="228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486400" cy="530352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BD4"/>
                </a:solidFill>
                <a:latin typeface="Segoe UI"/>
              </a:rPr>
              <a:t>⚙️  Backend — Jest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5120640" cy="123444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975104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D4"/>
                </a:solidFill>
                <a:latin typeface="Segoe UI"/>
              </a:rPr>
              <a:t>bmi.service.spec.ts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468880"/>
            <a:ext cx="1161288" cy="301752"/>
          </a:xfrm>
          <a:prstGeom prst="rect">
            <a:avLst/>
          </a:prstGeom>
          <a:solidFill>
            <a:srgbClr val="00C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468880"/>
            <a:ext cx="1161288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9 testes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7980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Segoe UI"/>
              </a:rPr>
              <a:t>Todas 7 classificações + valor IMC + campos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37560"/>
            <a:ext cx="5120640" cy="123444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392424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D4"/>
                </a:solidFill>
                <a:latin typeface="Segoe UI"/>
              </a:rPr>
              <a:t>bmi.controller.spec.ts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3886200"/>
            <a:ext cx="1161288" cy="301752"/>
          </a:xfrm>
          <a:prstGeom prst="rect">
            <a:avLst/>
          </a:prstGeom>
          <a:solidFill>
            <a:srgbClr val="00C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886200"/>
            <a:ext cx="1161288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3 testes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2153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Segoe UI"/>
              </a:rPr>
              <a:t>Definição, resultado correto, delegação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754880"/>
            <a:ext cx="5120640" cy="123444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809744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D4"/>
                </a:solidFill>
                <a:latin typeface="Segoe UI"/>
              </a:rPr>
              <a:t>app.e2e-spec.ts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5303520"/>
            <a:ext cx="1161288" cy="301752"/>
          </a:xfrm>
          <a:prstGeom prst="rect">
            <a:avLst/>
          </a:prstGeom>
          <a:solidFill>
            <a:srgbClr val="00C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5303520"/>
            <a:ext cx="1161288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6 testes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3270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Segoe UI"/>
              </a:rPr>
              <a:t>POST /bmi + 4 validações + GET /health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1234440"/>
            <a:ext cx="5760720" cy="530352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325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8A"/>
                </a:solidFill>
                <a:latin typeface="Segoe UI"/>
              </a:rPr>
              <a:t>🖥️  Frontend — Vitest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1920240"/>
            <a:ext cx="5486400" cy="96012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2512" y="197510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8A"/>
                </a:solidFill>
                <a:latin typeface="Segoe UI"/>
              </a:rPr>
              <a:t>BmiForm.spec.ts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245059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Segoe UI"/>
              </a:rPr>
              <a:t>Renderização e envio do formulário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035808"/>
            <a:ext cx="5486400" cy="96012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2512" y="309067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8A"/>
                </a:solidFill>
                <a:latin typeface="Segoe UI"/>
              </a:rPr>
              <a:t>BmiResult.spec.ts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35661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Segoe UI"/>
              </a:rPr>
              <a:t>Cores por classificação, evento reset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151376"/>
            <a:ext cx="5486400" cy="96012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2512" y="420624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8A"/>
                </a:solidFill>
                <a:latin typeface="Segoe UI"/>
              </a:rPr>
              <a:t>bmi.service.spec.ts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68172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Segoe UI"/>
              </a:rPr>
              <a:t>Chamada à API via Axios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5266944"/>
            <a:ext cx="5486400" cy="96012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2512" y="5321807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8A"/>
                </a:solidFill>
                <a:latin typeface="Segoe UI"/>
              </a:rPr>
              <a:t>useBmi.spec.ts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2512" y="579729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Segoe UI"/>
              </a:rPr>
              <a:t>Estados: loading / error / result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Etapa 4 — AppSec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ABBCC"/>
                </a:solidFill>
                <a:latin typeface="Segoe UI"/>
              </a:rPr>
              <a:t>Ferramentas de segurança integradas ao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78992"/>
            <a:ext cx="11430000" cy="22860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25880"/>
            <a:ext cx="2788920" cy="493776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2788920" cy="54864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17320"/>
            <a:ext cx="2788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Segoe UI"/>
              </a:rPr>
              <a:t>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514600"/>
            <a:ext cx="2788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Trivy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90672"/>
            <a:ext cx="1792224" cy="301752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1792224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Container Scan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56616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  <a:latin typeface="Segoe UI"/>
              </a:rPr>
              <a:t>CVEs nas imagens Docker
appsec-bmi-backend/frontend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356616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BBCC"/>
                </a:solidFill>
                <a:latin typeface="Segoe U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1325880"/>
            <a:ext cx="2788920" cy="493776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325880"/>
            <a:ext cx="278892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1417320"/>
            <a:ext cx="2788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Segoe UI"/>
              </a:rPr>
              <a:t>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514600"/>
            <a:ext cx="2788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Dep. Check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94760" y="3090672"/>
            <a:ext cx="914400" cy="30175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94760" y="3090672"/>
            <a:ext cx="9144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SCA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56616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  <a:latin typeface="Segoe UI"/>
              </a:rPr>
              <a:t>Vulnerabilidades em
dependências npm (NVD)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356616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BBCC"/>
                </a:solidFill>
                <a:latin typeface="Segoe U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325880"/>
            <a:ext cx="2788920" cy="493776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325880"/>
            <a:ext cx="2788920" cy="54864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1417320"/>
            <a:ext cx="2788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514600"/>
            <a:ext cx="2788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OWASP ZAP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59" y="3090672"/>
            <a:ext cx="914400" cy="301752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59" y="3090672"/>
            <a:ext cx="9144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DAST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79" y="356616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  <a:latin typeface="Segoe UI"/>
              </a:rPr>
              <a:t>Vulnerabilidades HTTP
em runtime (full scan)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356616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BBCC"/>
                </a:solidFill>
                <a:latin typeface="Segoe U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35440" y="1325880"/>
            <a:ext cx="2788920" cy="493776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35440" y="1325880"/>
            <a:ext cx="27889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0" y="1417320"/>
            <a:ext cx="2788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Segoe UI"/>
              </a:rPr>
              <a:t>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514600"/>
            <a:ext cx="2788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DefectDojo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38360" y="3090672"/>
            <a:ext cx="1371600" cy="3017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38360" y="3090672"/>
            <a:ext cx="13716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Aggregator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356616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  <a:latin typeface="Segoe UI"/>
              </a:rPr>
              <a:t>Centraliza, prioriza e
gerencia todos os findings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Trivy — Container 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ABBCC"/>
                </a:solidFill>
                <a:latin typeface="Segoe UI"/>
              </a:rPr>
              <a:t>Identificação de CVEs nas imagens Docker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78992"/>
            <a:ext cx="11430000" cy="22860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03520" cy="530352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BD4"/>
                </a:solidFill>
                <a:latin typeface="Segoe UI"/>
              </a:rPr>
              <a:t>🐳  O que analisa?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📦  Pacotes do OS (Alpine / Debian)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🔷  Dependências da aplicação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🔑  Secrets e credenciais expostas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033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⚙️  Configurações inseguras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29768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📋  Licenças de software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937760"/>
            <a:ext cx="5303520" cy="155448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02920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ABBCC"/>
                </a:solidFill>
                <a:latin typeface="Segoe UI"/>
              </a:rPr>
              <a:t>🎯  Severidades: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5486400"/>
            <a:ext cx="1161288" cy="301752"/>
          </a:xfrm>
          <a:prstGeom prst="rect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1161288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CRITICAL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5486400"/>
            <a:ext cx="914400" cy="301752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0" y="5486400"/>
            <a:ext cx="9144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39" y="5486400"/>
            <a:ext cx="950976" cy="30175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39" y="5486400"/>
            <a:ext cx="950976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MEDIUM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1234440"/>
            <a:ext cx="5943600" cy="256032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325880"/>
            <a:ext cx="5623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C88A"/>
                </a:solidFill>
                <a:latin typeface="Segoe UI"/>
              </a:rPr>
              <a:t>$ trivy image \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1828800"/>
            <a:ext cx="5623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  --format json \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2331720"/>
            <a:ext cx="5623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  --severity CRITICAL,HIGH,MEDIUM \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2834640"/>
            <a:ext cx="5623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00"/>
                </a:solidFill>
                <a:latin typeface="Segoe UI"/>
              </a:rPr>
              <a:t>  appsec-bmi-backend:latest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4023360"/>
            <a:ext cx="5943600" cy="246888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114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📊  Resultados da última execução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4663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4B4B"/>
                </a:solidFill>
                <a:latin typeface="Segoe UI"/>
              </a:rPr>
              <a:t>🔴  Backend:   3 vulnerabilidades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510235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8C00"/>
                </a:solidFill>
                <a:latin typeface="Segoe UI"/>
              </a:rPr>
              <a:t>🟠  Frontend: 77 vulnerabilidades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5532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ABBCC"/>
                </a:solidFill>
                <a:latin typeface="Segoe UI"/>
              </a:rPr>
              <a:t>(maioria: pacotes OS Alpine 3.21)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OWASP Dependency Check — SCA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ABBCC"/>
                </a:solidFill>
                <a:latin typeface="Segoe UI"/>
              </a:rPr>
              <a:t>Software Composition Analysis das dependências npm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78992"/>
            <a:ext cx="11430000" cy="228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03520" cy="530352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C00"/>
                </a:solidFill>
                <a:latin typeface="Segoe UI"/>
              </a:rPr>
              <a:t>📦  O que analisa?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📄  package.json / package-lock.json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🗂️  node_modules (backend + frontend)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🔗  CVEs no banco NVD — NIST (346k+)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033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📋  Vulnerabilidades por versão de pacote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29768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🏷️  Licenças permissivas / restritivas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34440"/>
            <a:ext cx="5943600" cy="22860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25880"/>
            <a:ext cx="5623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C88A"/>
                </a:solidFill>
                <a:latin typeface="Segoe UI"/>
              </a:rPr>
              <a:t>$ docker run owasp/dependency-check \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783080"/>
            <a:ext cx="5623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  --scan /src/backend \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240280"/>
            <a:ext cx="5623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  --scan /src/frontend \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697480"/>
            <a:ext cx="5623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000"/>
                </a:solidFill>
                <a:latin typeface="Segoe UI"/>
              </a:rPr>
              <a:t>  --format JSON --format HTML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3749039"/>
            <a:ext cx="5943600" cy="274320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3840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000"/>
                </a:solidFill>
                <a:latin typeface="Segoe UI"/>
              </a:rPr>
              <a:t>⚠️  Sobre o NVD Database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4389120"/>
            <a:ext cx="5486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• Banco com 346.000+ CVEs registrados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864608"/>
            <a:ext cx="5486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C00"/>
                </a:solidFill>
                <a:latin typeface="Segoe UI"/>
              </a:rPr>
              <a:t>• Primeira execução: ~30 min sem API 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5340096"/>
            <a:ext cx="5486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C88A"/>
                </a:solidFill>
                <a:latin typeface="Segoe UI"/>
              </a:rPr>
              <a:t>• Volume Docker persiste — próximas = rápido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5815583"/>
            <a:ext cx="5486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• NVD API Key gratuita → 10× mais rápido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OWASP ZAP — DAST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ABBCC"/>
                </a:solidFill>
                <a:latin typeface="Segoe UI"/>
              </a:rPr>
              <a:t>Dynamic Application Security Testing em runtime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78992"/>
            <a:ext cx="11430000" cy="22860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03520" cy="530352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4B4B"/>
                </a:solidFill>
                <a:latin typeface="Segoe UI"/>
              </a:rPr>
              <a:t>⚡  O que analisa?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🕷️  Crawler automático (full scan)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68880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💉  SQL Injection / XSS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17520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🔓  Falhas de autenticação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566160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📡  Headers HTTP inseguros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114800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🔒  Configuração de CORS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663440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🗺️  Endpoints expostos indevidamente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212079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🔁  CSRF e clickjacking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234440"/>
            <a:ext cx="5943600" cy="182880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325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⚙️  Regras suprimidas (zap-rules.tsv)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182880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IGNORE  10015  Cache-control Header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21284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IGNORE  10096  Timestamp Disclosure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2596896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IGNORE  10027  Suspicious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3291840"/>
            <a:ext cx="5943600" cy="320040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3383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4B4B"/>
                </a:solidFill>
                <a:latin typeface="Segoe UI"/>
              </a:rPr>
              <a:t>🔄  Fluxo de execução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3931920"/>
            <a:ext cx="914400" cy="301752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60" y="3931920"/>
            <a:ext cx="9144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393192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ZAP acessa http://localhost:80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4389120"/>
            <a:ext cx="914400" cy="301752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4389120"/>
            <a:ext cx="9144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38912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Crawler mapeia todos os endpoints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0760" y="4846320"/>
            <a:ext cx="914400" cy="301752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846320"/>
            <a:ext cx="9144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84632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Executa testes de vulnerabilidade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0760" y="5303520"/>
            <a:ext cx="914400" cy="301752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5303520"/>
            <a:ext cx="9144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530352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Gera JSON + HTML em reports/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5760720"/>
            <a:ext cx="914400" cy="301752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80760" y="5760720"/>
            <a:ext cx="9144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576072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C88A"/>
                </a:solidFill>
                <a:latin typeface="Segoe UI"/>
              </a:rPr>
              <a:t>Importa findings no DefectDojo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DefectDojo — Aggregator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ABBCC"/>
                </a:solidFill>
                <a:latin typeface="Segoe UI"/>
              </a:rPr>
              <a:t>Centralização e gestão de vulnerabilidades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78992"/>
            <a:ext cx="11430000" cy="228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03520" cy="530352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B5CF6"/>
                </a:solidFill>
                <a:latin typeface="Segoe UI"/>
              </a:rPr>
              <a:t>🟣  O que é?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📋  Agrega findings de todas as ferramentas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🎯  Prioriza por severidade e risco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✅  Controle de falso-positivos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033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📈  Histórico de vulnerabilidades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29768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🔔  Deduplication automática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8920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🔗  Integração com Jira, Slack e mais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234440"/>
            <a:ext cx="5943600" cy="530352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325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B5CF6"/>
                </a:solidFill>
                <a:latin typeface="Segoe UI"/>
              </a:rPr>
              <a:t>🐳  Stack de Containers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920240"/>
            <a:ext cx="64008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94767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defectdojo-nginx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30428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Segoe UI"/>
              </a:rPr>
              <a:t>Proxy + assets estáticos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697480"/>
            <a:ext cx="64008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72491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uwsgi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08152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Segoe UI"/>
              </a:rPr>
              <a:t>Django app via uWSGI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474720"/>
            <a:ext cx="64008" cy="658368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3502151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defectdojo-celeryworker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85876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Segoe UI"/>
              </a:rPr>
              <a:t>Processa imports em background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4251960"/>
            <a:ext cx="64008" cy="658368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427939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defectdojo-celerybeat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63600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Segoe UI"/>
              </a:rPr>
              <a:t>Agendamento de tarefas periódicas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5029200"/>
            <a:ext cx="64008" cy="658368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505663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redis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541324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Segoe UI"/>
              </a:rPr>
              <a:t>Broker de tarefas Celery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5806440"/>
            <a:ext cx="64008" cy="65836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583387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postgres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619048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Segoe UI"/>
              </a:rPr>
              <a:t>Banco de dados principal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943600"/>
            <a:ext cx="11430000" cy="59436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0350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Segoe UI"/>
              </a:rPr>
              <a:t>🔗  http://localhost:8081  •  admin / admin@dojo123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GitHub Actions — CI/CD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ABBCC"/>
                </a:solidFill>
                <a:latin typeface="Segoe UI"/>
              </a:rPr>
              <a:t>Scans automáticos em cada push / PR para main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78992"/>
            <a:ext cx="11430000" cy="228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25880"/>
            <a:ext cx="2788920" cy="384048"/>
          </a:xfrm>
          <a:prstGeom prst="rect">
            <a:avLst/>
          </a:prstGeom>
          <a:solidFill>
            <a:srgbClr val="00C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344168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🧪  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709928"/>
            <a:ext cx="2788920" cy="301752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801368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Jest + Vitest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395728"/>
            <a:ext cx="2606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Valida que nenhum teste quebrou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83464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AABBCC"/>
                </a:solidFill>
                <a:latin typeface="Segoe U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325880"/>
            <a:ext cx="27889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344168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📦  dependency-check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1709928"/>
            <a:ext cx="2788920" cy="301752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801368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OWASP Dep.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395728"/>
            <a:ext cx="2606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SCA das dependências npm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83464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AABBCC"/>
                </a:solidFill>
                <a:latin typeface="Segoe U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325880"/>
            <a:ext cx="2788920" cy="384048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1344168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🐳  trivy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709928"/>
            <a:ext cx="2788920" cy="301752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79" y="1801368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Trivy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79" y="2395728"/>
            <a:ext cx="2606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Scan das imagens backend e frontend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83464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AABBCC"/>
                </a:solidFill>
                <a:latin typeface="Segoe U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1325880"/>
            <a:ext cx="2788920" cy="384048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1344168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⚡  zap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1709928"/>
            <a:ext cx="2788920" cy="301752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1801368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OWASP ZAP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2395728"/>
            <a:ext cx="2606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DAST contra o stack completo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937760"/>
            <a:ext cx="11430000" cy="68580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0292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📁  Artefatos: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5029200"/>
            <a:ext cx="9326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trivy-report.json  ·  dependency-check-report.html  ·  zap-report.json  ·  zap-report.html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760720"/>
            <a:ext cx="11430000" cy="77724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5897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B5CF6"/>
                </a:solidFill>
                <a:latin typeface="Segoe UI"/>
              </a:rPr>
              <a:t>🟣  Secrets:  DEFECTDOJO_URL  +  DEFECTDOJO_TOKEN  +  DEFECTDOJO_PRODUCT_ID  →  import automático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Princípios Aplicados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ABBCC"/>
                </a:solidFill>
                <a:latin typeface="Segoe UI"/>
              </a:rPr>
              <a:t>Boas práticas de desenvolvimento seguro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78992"/>
            <a:ext cx="11430000" cy="228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4864" cy="1463040"/>
          </a:xfrm>
          <a:prstGeom prst="rect">
            <a:avLst/>
          </a:prstGeom>
          <a:solidFill>
            <a:srgbClr val="00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99032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🏗️  SOLID / MVC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4767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Controller → Service → DTO — responsabilidade única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325880"/>
            <a:ext cx="54864" cy="1463040"/>
          </a:xfrm>
          <a:prstGeom prst="rect">
            <a:avLst/>
          </a:prstGeom>
          <a:solidFill>
            <a:srgbClr val="00C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399032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✅  Validação na borda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94767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ValidationPipe global: whitelist + transform + rejeita extras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063239"/>
            <a:ext cx="54864" cy="14630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136391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🔒  Container seguro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85031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node:22-alpine, usuário não-root, multi-stage build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3063239"/>
            <a:ext cx="54864" cy="1463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136391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📊  Métricas isoladas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685031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:9464 não exposta publicamente — apenas para o Prometheus interno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800600"/>
            <a:ext cx="54864" cy="14630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873752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📡  Observabilidade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42239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Traces correlacionados via W3C TraceContext (frontend ↔ backend)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4800600"/>
            <a:ext cx="54864" cy="1463040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873752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🛡️  Segurança contínua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42239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Segoe UI"/>
              </a:rPr>
              <a:t>SCA + Container Scan + DAST automatizados em cada push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0" y="365760"/>
            <a:ext cx="57881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0" b="0" i="0">
                <a:solidFill>
                  <a:srgbClr val="FFFFFF"/>
                </a:solidFill>
                <a:latin typeface="Segoe UI"/>
              </a:rPr>
              <a:t>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Segoe UI"/>
              </a:rPr>
              <a:t>Conclusão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59152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AABBCC"/>
                </a:solidFill>
                <a:latin typeface="Segoe UI"/>
              </a:rPr>
              <a:t>AppSec não é um produto — é uma cultura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3063240"/>
            <a:ext cx="8531352" cy="3017520"/>
          </a:xfrm>
          <a:prstGeom prst="rect">
            <a:avLst/>
          </a:prstGeom>
          <a:solidFill>
            <a:srgbClr val="16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03120" y="32004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✅  Segurança integrada ao pipeline, não uma etapa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730752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✅  Ferramentas open-source e gratuitas já resolvem muito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4261104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✅  Automação via GitHub Actions — zero esforço por 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4791456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✅  DefectDojo centraliza e prioriza o que realmente importa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5321808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✅  Shift Left = custo menor, qualidade maior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C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1052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🙋  Perguntas?  •  github.com/questores/appsec-bmi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